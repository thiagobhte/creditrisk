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75488"/>
            <a:ext cx="118872" cy="256032"/>
          </a:xfrm>
          <a:prstGeom prst="roundRect">
            <a:avLst>
              <a:gd name="adj" fmla="val 4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220">
                <a:solidFill>
                  <a:srgbClr val="4FD1C5"/>
                </a:solidFill>
                <a:latin typeface="Segoe UI"/>
              </a:rPr>
              <a:t>PROBLEMA DE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105509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Todo crédito é uma decisão sob incerteza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0689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B9C7D6"/>
                </a:solidFill>
                <a:latin typeface="Segoe UI"/>
              </a:rPr>
              <a:t>Errar para os dois lados custa dinheiro. A questão é escolher a quem emprestar antes de saber quem vai pagar.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Home Credit Default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3224" y="65105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01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47672"/>
            <a:ext cx="3489960" cy="160020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49808" y="2148840"/>
            <a:ext cx="45720" cy="182880"/>
          </a:xfrm>
          <a:prstGeom prst="roundRect">
            <a:avLst>
              <a:gd name="adj" fmla="val 50000"/>
            </a:avLst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7824" y="2148840"/>
            <a:ext cx="2996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Aprovar um mau pagador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23160"/>
            <a:ext cx="3124200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B9C7D6"/>
                </a:solidFill>
                <a:latin typeface="Segoe UI"/>
              </a:rPr>
              <a:t>A perda aparece no balanço: o dinheiro emprestado não volta.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9496" y="1947672"/>
            <a:ext cx="3489960" cy="160020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532376" y="2148840"/>
            <a:ext cx="45720" cy="18288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60392" y="2148840"/>
            <a:ext cx="2996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Recusar um bom pagador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2376" y="2423160"/>
            <a:ext cx="3124200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B9C7D6"/>
                </a:solidFill>
                <a:latin typeface="Segoe UI"/>
              </a:rPr>
              <a:t>A perda é silenciosa: ninguém contabiliza a receita que deixou de entrar.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2064" y="1947672"/>
            <a:ext cx="3489960" cy="1600200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2064" y="2331720"/>
            <a:ext cx="34899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34C7B5"/>
                </a:solidFill>
                <a:latin typeface="Segoe UI"/>
              </a:rPr>
              <a:t>8,07%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8368" y="2843784"/>
            <a:ext cx="319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8294A8"/>
                </a:solidFill>
                <a:latin typeface="Segoe UI"/>
              </a:rPr>
              <a:t>inadimplência real na base
(TARGET = 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767328"/>
            <a:ext cx="11055096" cy="713232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49808" y="3931920"/>
            <a:ext cx="45720" cy="384048"/>
          </a:xfrm>
          <a:prstGeom prst="roundRect">
            <a:avLst>
              <a:gd name="adj" fmla="val 5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400" y="3913632"/>
            <a:ext cx="1050645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spc="200">
                <a:solidFill>
                  <a:srgbClr val="4FD1C5"/>
                </a:solidFill>
                <a:latin typeface="Segoe UI"/>
              </a:rPr>
              <a:t>OBJETIVO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FFFFF"/>
                </a:solidFill>
                <a:latin typeface="Segoe UI"/>
              </a:rPr>
              <a:t>Estimar a </a:t>
            </a:r>
            <a:r>
              <a:rPr sz="1300" b="1">
                <a:solidFill>
                  <a:srgbClr val="34C7B5"/>
                </a:solidFill>
                <a:latin typeface="Segoe UI"/>
              </a:rPr>
              <a:t>probabilidade de default (PD)</a:t>
            </a:r>
            <a:r>
              <a:rPr sz="1300" b="0">
                <a:solidFill>
                  <a:srgbClr val="FFFFFF"/>
                </a:solidFill>
                <a:latin typeface="Segoe UI"/>
              </a:rPr>
              <a:t> de cada cliente e transformar esse número numa decisão de concessão.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754880"/>
            <a:ext cx="11055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200">
                <a:solidFill>
                  <a:srgbClr val="8294A8"/>
                </a:solidFill>
                <a:latin typeface="Segoe UI"/>
              </a:rPr>
              <a:t>COMO SABEMOS SE DEU CERTO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029200"/>
            <a:ext cx="3340608" cy="365760"/>
          </a:xfrm>
          <a:prstGeom prst="roundRect">
            <a:avLst>
              <a:gd name="adj" fmla="val 45000"/>
            </a:avLst>
          </a:prstGeom>
          <a:solidFill>
            <a:srgbClr val="112136"/>
          </a:solidFill>
          <a:ln w="9525">
            <a:solidFill>
              <a:srgbClr val="34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66928" y="5120640"/>
            <a:ext cx="334060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AUC-ROC · a métrica técnica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0144" y="5029200"/>
            <a:ext cx="3340608" cy="365760"/>
          </a:xfrm>
          <a:prstGeom prst="roundRect">
            <a:avLst>
              <a:gd name="adj" fmla="val 45000"/>
            </a:avLst>
          </a:prstGeom>
          <a:solidFill>
            <a:srgbClr val="112136"/>
          </a:solidFill>
          <a:ln w="9525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200144" y="5120640"/>
            <a:ext cx="334060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Redução da inadimplência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33360" y="5029200"/>
            <a:ext cx="3340608" cy="365760"/>
          </a:xfrm>
          <a:prstGeom prst="roundRect">
            <a:avLst>
              <a:gd name="adj" fmla="val 45000"/>
            </a:avLst>
          </a:prstGeom>
          <a:solidFill>
            <a:srgbClr val="112136"/>
          </a:solidFill>
          <a:ln w="9525">
            <a:solidFill>
              <a:srgbClr val="3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33360" y="5120640"/>
            <a:ext cx="334060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Resultado líquido em R$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75488"/>
            <a:ext cx="118872" cy="256032"/>
          </a:xfrm>
          <a:prstGeom prst="roundRect">
            <a:avLst>
              <a:gd name="adj" fmla="val 4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220">
                <a:solidFill>
                  <a:srgbClr val="4FD1C5"/>
                </a:solidFill>
                <a:latin typeface="Segoe UI"/>
              </a:rPr>
              <a:t>ANÁLISE EXPLORATÓRIA ·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105509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O que os dados revelam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0689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B9C7D6"/>
                </a:solidFill>
                <a:latin typeface="Segoe UI"/>
              </a:rPr>
              <a:t>Antes de modelar: entender o desbalanceamento, os valores sujos e o que de fato prevê risco.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Home Credit Default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3224" y="65105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02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47672"/>
            <a:ext cx="6510528" cy="91440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8096" y="2185416"/>
            <a:ext cx="420624" cy="420624"/>
          </a:xfrm>
          <a:prstGeom prst="ellipse">
            <a:avLst/>
          </a:prstGeom>
          <a:solidFill>
            <a:srgbClr val="112136"/>
          </a:solidFill>
          <a:ln w="9525">
            <a:solidFill>
              <a:srgbClr val="34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2295144"/>
            <a:ext cx="4206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34C7B5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167128"/>
            <a:ext cx="55412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Base fortemente desbalanceada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2423160"/>
            <a:ext cx="5541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B9C7D6"/>
                </a:solidFill>
                <a:latin typeface="Segoe UI"/>
              </a:rPr>
              <a:t>Só 8,07% são inadimplentes — por isso a métrica-guia é o AUC, e não a acurácia.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71800"/>
            <a:ext cx="6510528" cy="91440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68096" y="3209544"/>
            <a:ext cx="420624" cy="420624"/>
          </a:xfrm>
          <a:prstGeom prst="ellipse">
            <a:avLst/>
          </a:prstGeom>
          <a:solidFill>
            <a:srgbClr val="112136"/>
          </a:solidFill>
          <a:ln w="9525">
            <a:solidFill>
              <a:srgbClr val="34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8096" y="3319272"/>
            <a:ext cx="4206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34C7B5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191256"/>
            <a:ext cx="55412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Valores sentinela tratados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3447288"/>
            <a:ext cx="5541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B9C7D6"/>
                </a:solidFill>
                <a:latin typeface="Segoe UI"/>
              </a:rPr>
              <a:t>DAYS_EMPLOYED = 365243 era o código para “sem emprego”. Limpo antes de treinar.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995928"/>
            <a:ext cx="6510528" cy="91440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68096" y="4233672"/>
            <a:ext cx="420624" cy="420624"/>
          </a:xfrm>
          <a:prstGeom prst="ellipse">
            <a:avLst/>
          </a:prstGeom>
          <a:solidFill>
            <a:srgbClr val="112136"/>
          </a:solidFill>
          <a:ln w="952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8096" y="4343400"/>
            <a:ext cx="4206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0B429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4215384"/>
            <a:ext cx="55412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Muitos nulos com significado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471416"/>
            <a:ext cx="5541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B9C7D6"/>
                </a:solidFill>
                <a:latin typeface="Segoe UI"/>
              </a:rPr>
              <a:t>Em bureau e aplicações anteriores, o vazio quer dizer algo: o cliente não tem histórico.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020056"/>
            <a:ext cx="6510528" cy="91440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768096" y="5257800"/>
            <a:ext cx="420624" cy="420624"/>
          </a:xfrm>
          <a:prstGeom prst="ellipse">
            <a:avLst/>
          </a:prstGeom>
          <a:solidFill>
            <a:srgbClr val="112136"/>
          </a:solidFill>
          <a:ln w="9525">
            <a:solidFill>
              <a:srgbClr val="3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8096" y="5367528"/>
            <a:ext cx="4206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3FCF8E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5239512"/>
            <a:ext cx="55412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Os preditores mais fortes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5495544"/>
            <a:ext cx="55412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B9C7D6"/>
                </a:solidFill>
                <a:latin typeface="Segoe UI"/>
              </a:rPr>
              <a:t>EXT_SOURCE_1/2/3 (scores externos), idade e tempo de emprego.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70064" y="1947672"/>
            <a:ext cx="4251960" cy="3986784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70064" y="2240280"/>
            <a:ext cx="4251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 spc="200">
                <a:solidFill>
                  <a:srgbClr val="4FD1C5"/>
                </a:solidFill>
                <a:latin typeface="Segoe UI"/>
              </a:rPr>
              <a:t>DISTRIBUIÇÃO DO TARGET</a:t>
            </a:r>
          </a:p>
        </p:txBody>
      </p:sp>
      <p:sp>
        <p:nvSpPr>
          <p:cNvPr id="30" name="Freeform 29"/>
          <p:cNvSpPr/>
          <p:nvPr/>
        </p:nvSpPr>
        <p:spPr>
          <a:xfrm>
            <a:off x="8535924" y="2926080"/>
            <a:ext cx="1920240" cy="1920240"/>
          </a:xfrm>
          <a:custGeom>
            <a:avLst/>
            <a:gdLst/>
            <a:ahLst/>
            <a:cxnLst/>
            <a:rect l="l" t="t" r="r" b="b"/>
            <a:pathLst>
              <a:path w="1920240" h="1920240">
                <a:moveTo>
                  <a:pt x="960120" y="0"/>
                </a:moveTo>
                <a:lnTo>
                  <a:pt x="1043799" y="3653"/>
                </a:lnTo>
                <a:lnTo>
                  <a:pt x="1126843" y="14586"/>
                </a:lnTo>
                <a:lnTo>
                  <a:pt x="1208617" y="32715"/>
                </a:lnTo>
                <a:lnTo>
                  <a:pt x="1288500" y="57902"/>
                </a:lnTo>
                <a:lnTo>
                  <a:pt x="1365884" y="89955"/>
                </a:lnTo>
                <a:lnTo>
                  <a:pt x="1440180" y="128631"/>
                </a:lnTo>
                <a:lnTo>
                  <a:pt x="1510822" y="173635"/>
                </a:lnTo>
                <a:lnTo>
                  <a:pt x="1577273" y="224625"/>
                </a:lnTo>
                <a:lnTo>
                  <a:pt x="1639027" y="281212"/>
                </a:lnTo>
                <a:lnTo>
                  <a:pt x="1695614" y="342966"/>
                </a:lnTo>
                <a:lnTo>
                  <a:pt x="1746604" y="409417"/>
                </a:lnTo>
                <a:lnTo>
                  <a:pt x="1791608" y="480060"/>
                </a:lnTo>
                <a:lnTo>
                  <a:pt x="1830284" y="554355"/>
                </a:lnTo>
                <a:lnTo>
                  <a:pt x="1862337" y="631739"/>
                </a:lnTo>
                <a:lnTo>
                  <a:pt x="1887524" y="711622"/>
                </a:lnTo>
                <a:lnTo>
                  <a:pt x="1905653" y="793396"/>
                </a:lnTo>
                <a:lnTo>
                  <a:pt x="1916586" y="876440"/>
                </a:lnTo>
                <a:lnTo>
                  <a:pt x="1920240" y="960120"/>
                </a:lnTo>
                <a:lnTo>
                  <a:pt x="1916586" y="1043799"/>
                </a:lnTo>
                <a:lnTo>
                  <a:pt x="1905653" y="1126843"/>
                </a:lnTo>
                <a:lnTo>
                  <a:pt x="1887524" y="1208617"/>
                </a:lnTo>
                <a:lnTo>
                  <a:pt x="1862337" y="1288500"/>
                </a:lnTo>
                <a:lnTo>
                  <a:pt x="1830284" y="1365884"/>
                </a:lnTo>
                <a:lnTo>
                  <a:pt x="1791608" y="1440180"/>
                </a:lnTo>
                <a:lnTo>
                  <a:pt x="1746604" y="1510822"/>
                </a:lnTo>
                <a:lnTo>
                  <a:pt x="1695614" y="1577273"/>
                </a:lnTo>
                <a:lnTo>
                  <a:pt x="1639027" y="1639027"/>
                </a:lnTo>
                <a:lnTo>
                  <a:pt x="1577273" y="1695614"/>
                </a:lnTo>
                <a:lnTo>
                  <a:pt x="1510822" y="1746604"/>
                </a:lnTo>
                <a:lnTo>
                  <a:pt x="1440180" y="1791608"/>
                </a:lnTo>
                <a:lnTo>
                  <a:pt x="1365884" y="1830284"/>
                </a:lnTo>
                <a:lnTo>
                  <a:pt x="1288500" y="1862337"/>
                </a:lnTo>
                <a:lnTo>
                  <a:pt x="1208617" y="1887524"/>
                </a:lnTo>
                <a:lnTo>
                  <a:pt x="1126843" y="1905653"/>
                </a:lnTo>
                <a:lnTo>
                  <a:pt x="1043799" y="1916586"/>
                </a:lnTo>
                <a:lnTo>
                  <a:pt x="960120" y="1920240"/>
                </a:lnTo>
                <a:lnTo>
                  <a:pt x="876440" y="1916586"/>
                </a:lnTo>
                <a:lnTo>
                  <a:pt x="793396" y="1905653"/>
                </a:lnTo>
                <a:lnTo>
                  <a:pt x="711622" y="1887524"/>
                </a:lnTo>
                <a:lnTo>
                  <a:pt x="631739" y="1862337"/>
                </a:lnTo>
                <a:lnTo>
                  <a:pt x="554355" y="1830284"/>
                </a:lnTo>
                <a:lnTo>
                  <a:pt x="480060" y="1791608"/>
                </a:lnTo>
                <a:lnTo>
                  <a:pt x="409417" y="1746604"/>
                </a:lnTo>
                <a:lnTo>
                  <a:pt x="342966" y="1695614"/>
                </a:lnTo>
                <a:lnTo>
                  <a:pt x="281212" y="1639027"/>
                </a:lnTo>
                <a:lnTo>
                  <a:pt x="224625" y="1577273"/>
                </a:lnTo>
                <a:lnTo>
                  <a:pt x="173635" y="1510822"/>
                </a:lnTo>
                <a:lnTo>
                  <a:pt x="128631" y="1440180"/>
                </a:lnTo>
                <a:lnTo>
                  <a:pt x="89955" y="1365884"/>
                </a:lnTo>
                <a:lnTo>
                  <a:pt x="57902" y="1288500"/>
                </a:lnTo>
                <a:lnTo>
                  <a:pt x="32715" y="1208617"/>
                </a:lnTo>
                <a:lnTo>
                  <a:pt x="14586" y="1126843"/>
                </a:lnTo>
                <a:lnTo>
                  <a:pt x="3653" y="1043799"/>
                </a:lnTo>
                <a:lnTo>
                  <a:pt x="0" y="960120"/>
                </a:lnTo>
                <a:lnTo>
                  <a:pt x="3653" y="876440"/>
                </a:lnTo>
                <a:lnTo>
                  <a:pt x="14586" y="793396"/>
                </a:lnTo>
                <a:lnTo>
                  <a:pt x="32715" y="711622"/>
                </a:lnTo>
                <a:lnTo>
                  <a:pt x="57902" y="631739"/>
                </a:lnTo>
                <a:lnTo>
                  <a:pt x="89955" y="554355"/>
                </a:lnTo>
                <a:lnTo>
                  <a:pt x="128631" y="480060"/>
                </a:lnTo>
                <a:lnTo>
                  <a:pt x="173635" y="409417"/>
                </a:lnTo>
                <a:lnTo>
                  <a:pt x="224625" y="342966"/>
                </a:lnTo>
                <a:lnTo>
                  <a:pt x="281212" y="281212"/>
                </a:lnTo>
                <a:lnTo>
                  <a:pt x="342966" y="224625"/>
                </a:lnTo>
                <a:lnTo>
                  <a:pt x="409417" y="173635"/>
                </a:lnTo>
                <a:lnTo>
                  <a:pt x="480060" y="128631"/>
                </a:lnTo>
                <a:lnTo>
                  <a:pt x="554355" y="89955"/>
                </a:lnTo>
                <a:lnTo>
                  <a:pt x="631739" y="57902"/>
                </a:lnTo>
                <a:lnTo>
                  <a:pt x="711622" y="32715"/>
                </a:lnTo>
                <a:lnTo>
                  <a:pt x="793396" y="14586"/>
                </a:lnTo>
                <a:lnTo>
                  <a:pt x="876440" y="3653"/>
                </a:lnTo>
                <a:lnTo>
                  <a:pt x="960120" y="0"/>
                </a:lnTo>
                <a:lnTo>
                  <a:pt x="960120" y="393192"/>
                </a:lnTo>
                <a:lnTo>
                  <a:pt x="910708" y="395349"/>
                </a:lnTo>
                <a:lnTo>
                  <a:pt x="861673" y="401804"/>
                </a:lnTo>
                <a:lnTo>
                  <a:pt x="813388" y="412509"/>
                </a:lnTo>
                <a:lnTo>
                  <a:pt x="766219" y="427381"/>
                </a:lnTo>
                <a:lnTo>
                  <a:pt x="720525" y="446308"/>
                </a:lnTo>
                <a:lnTo>
                  <a:pt x="676656" y="469145"/>
                </a:lnTo>
                <a:lnTo>
                  <a:pt x="634943" y="495719"/>
                </a:lnTo>
                <a:lnTo>
                  <a:pt x="595705" y="525827"/>
                </a:lnTo>
                <a:lnTo>
                  <a:pt x="559241" y="559241"/>
                </a:lnTo>
                <a:lnTo>
                  <a:pt x="525827" y="595705"/>
                </a:lnTo>
                <a:lnTo>
                  <a:pt x="495719" y="634943"/>
                </a:lnTo>
                <a:lnTo>
                  <a:pt x="469145" y="676656"/>
                </a:lnTo>
                <a:lnTo>
                  <a:pt x="446308" y="720525"/>
                </a:lnTo>
                <a:lnTo>
                  <a:pt x="427381" y="766219"/>
                </a:lnTo>
                <a:lnTo>
                  <a:pt x="412509" y="813388"/>
                </a:lnTo>
                <a:lnTo>
                  <a:pt x="401804" y="861673"/>
                </a:lnTo>
                <a:lnTo>
                  <a:pt x="395349" y="910708"/>
                </a:lnTo>
                <a:lnTo>
                  <a:pt x="393192" y="960120"/>
                </a:lnTo>
                <a:lnTo>
                  <a:pt x="395349" y="1009531"/>
                </a:lnTo>
                <a:lnTo>
                  <a:pt x="401804" y="1058566"/>
                </a:lnTo>
                <a:lnTo>
                  <a:pt x="412509" y="1106851"/>
                </a:lnTo>
                <a:lnTo>
                  <a:pt x="427381" y="1154020"/>
                </a:lnTo>
                <a:lnTo>
                  <a:pt x="446308" y="1199714"/>
                </a:lnTo>
                <a:lnTo>
                  <a:pt x="469145" y="1243583"/>
                </a:lnTo>
                <a:lnTo>
                  <a:pt x="495719" y="1285296"/>
                </a:lnTo>
                <a:lnTo>
                  <a:pt x="525827" y="1324534"/>
                </a:lnTo>
                <a:lnTo>
                  <a:pt x="559241" y="1360998"/>
                </a:lnTo>
                <a:lnTo>
                  <a:pt x="595705" y="1394412"/>
                </a:lnTo>
                <a:lnTo>
                  <a:pt x="634943" y="1424520"/>
                </a:lnTo>
                <a:lnTo>
                  <a:pt x="676656" y="1451094"/>
                </a:lnTo>
                <a:lnTo>
                  <a:pt x="720525" y="1473931"/>
                </a:lnTo>
                <a:lnTo>
                  <a:pt x="766219" y="1492858"/>
                </a:lnTo>
                <a:lnTo>
                  <a:pt x="813388" y="1507730"/>
                </a:lnTo>
                <a:lnTo>
                  <a:pt x="861673" y="1518435"/>
                </a:lnTo>
                <a:lnTo>
                  <a:pt x="910708" y="1524890"/>
                </a:lnTo>
                <a:lnTo>
                  <a:pt x="960120" y="1527048"/>
                </a:lnTo>
                <a:lnTo>
                  <a:pt x="1009531" y="1524890"/>
                </a:lnTo>
                <a:lnTo>
                  <a:pt x="1058566" y="1518435"/>
                </a:lnTo>
                <a:lnTo>
                  <a:pt x="1106851" y="1507730"/>
                </a:lnTo>
                <a:lnTo>
                  <a:pt x="1154020" y="1492858"/>
                </a:lnTo>
                <a:lnTo>
                  <a:pt x="1199714" y="1473931"/>
                </a:lnTo>
                <a:lnTo>
                  <a:pt x="1243584" y="1451094"/>
                </a:lnTo>
                <a:lnTo>
                  <a:pt x="1285296" y="1424520"/>
                </a:lnTo>
                <a:lnTo>
                  <a:pt x="1324534" y="1394412"/>
                </a:lnTo>
                <a:lnTo>
                  <a:pt x="1360998" y="1360998"/>
                </a:lnTo>
                <a:lnTo>
                  <a:pt x="1394412" y="1324534"/>
                </a:lnTo>
                <a:lnTo>
                  <a:pt x="1424520" y="1285296"/>
                </a:lnTo>
                <a:lnTo>
                  <a:pt x="1451094" y="1243583"/>
                </a:lnTo>
                <a:lnTo>
                  <a:pt x="1473931" y="1199714"/>
                </a:lnTo>
                <a:lnTo>
                  <a:pt x="1492858" y="1154020"/>
                </a:lnTo>
                <a:lnTo>
                  <a:pt x="1507730" y="1106851"/>
                </a:lnTo>
                <a:lnTo>
                  <a:pt x="1518435" y="1058566"/>
                </a:lnTo>
                <a:lnTo>
                  <a:pt x="1524890" y="1009531"/>
                </a:lnTo>
                <a:lnTo>
                  <a:pt x="1527048" y="960120"/>
                </a:lnTo>
                <a:lnTo>
                  <a:pt x="1524890" y="910708"/>
                </a:lnTo>
                <a:lnTo>
                  <a:pt x="1518435" y="861673"/>
                </a:lnTo>
                <a:lnTo>
                  <a:pt x="1507730" y="813388"/>
                </a:lnTo>
                <a:lnTo>
                  <a:pt x="1492858" y="766219"/>
                </a:lnTo>
                <a:lnTo>
                  <a:pt x="1473931" y="720525"/>
                </a:lnTo>
                <a:lnTo>
                  <a:pt x="1451094" y="676656"/>
                </a:lnTo>
                <a:lnTo>
                  <a:pt x="1424520" y="634943"/>
                </a:lnTo>
                <a:lnTo>
                  <a:pt x="1394412" y="595705"/>
                </a:lnTo>
                <a:lnTo>
                  <a:pt x="1360998" y="559241"/>
                </a:lnTo>
                <a:lnTo>
                  <a:pt x="1324534" y="525827"/>
                </a:lnTo>
                <a:lnTo>
                  <a:pt x="1285296" y="495719"/>
                </a:lnTo>
                <a:lnTo>
                  <a:pt x="1243584" y="469145"/>
                </a:lnTo>
                <a:lnTo>
                  <a:pt x="1199714" y="446308"/>
                </a:lnTo>
                <a:lnTo>
                  <a:pt x="1154020" y="427381"/>
                </a:lnTo>
                <a:lnTo>
                  <a:pt x="1106851" y="412509"/>
                </a:lnTo>
                <a:lnTo>
                  <a:pt x="1058566" y="401804"/>
                </a:lnTo>
                <a:lnTo>
                  <a:pt x="1009531" y="395349"/>
                </a:lnTo>
                <a:lnTo>
                  <a:pt x="960120" y="393192"/>
                </a:lnTo>
                <a:close/>
              </a:path>
            </a:pathLst>
          </a:custGeom>
          <a:solidFill>
            <a:srgbClr val="1B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496044" y="2926080"/>
            <a:ext cx="466237" cy="464523"/>
          </a:xfrm>
          <a:custGeom>
            <a:avLst/>
            <a:gdLst/>
            <a:ahLst/>
            <a:cxnLst/>
            <a:rect l="l" t="t" r="r" b="b"/>
            <a:pathLst>
              <a:path w="466237" h="464523">
                <a:moveTo>
                  <a:pt x="0" y="0"/>
                </a:moveTo>
                <a:lnTo>
                  <a:pt x="6761" y="23"/>
                </a:lnTo>
                <a:lnTo>
                  <a:pt x="13522" y="95"/>
                </a:lnTo>
                <a:lnTo>
                  <a:pt x="20283" y="214"/>
                </a:lnTo>
                <a:lnTo>
                  <a:pt x="27042" y="380"/>
                </a:lnTo>
                <a:lnTo>
                  <a:pt x="33800" y="595"/>
                </a:lnTo>
                <a:lnTo>
                  <a:pt x="40557" y="856"/>
                </a:lnTo>
                <a:lnTo>
                  <a:pt x="47311" y="1166"/>
                </a:lnTo>
                <a:lnTo>
                  <a:pt x="54063" y="1523"/>
                </a:lnTo>
                <a:lnTo>
                  <a:pt x="60813" y="1927"/>
                </a:lnTo>
                <a:lnTo>
                  <a:pt x="67559" y="2379"/>
                </a:lnTo>
                <a:lnTo>
                  <a:pt x="74302" y="2879"/>
                </a:lnTo>
                <a:lnTo>
                  <a:pt x="81042" y="3426"/>
                </a:lnTo>
                <a:lnTo>
                  <a:pt x="87777" y="4020"/>
                </a:lnTo>
                <a:lnTo>
                  <a:pt x="94508" y="4662"/>
                </a:lnTo>
                <a:lnTo>
                  <a:pt x="101234" y="5351"/>
                </a:lnTo>
                <a:lnTo>
                  <a:pt x="107956" y="6088"/>
                </a:lnTo>
                <a:lnTo>
                  <a:pt x="114671" y="6872"/>
                </a:lnTo>
                <a:lnTo>
                  <a:pt x="121382" y="7703"/>
                </a:lnTo>
                <a:lnTo>
                  <a:pt x="128086" y="8582"/>
                </a:lnTo>
                <a:lnTo>
                  <a:pt x="134784" y="9507"/>
                </a:lnTo>
                <a:lnTo>
                  <a:pt x="141475" y="10480"/>
                </a:lnTo>
                <a:lnTo>
                  <a:pt x="148159" y="11500"/>
                </a:lnTo>
                <a:lnTo>
                  <a:pt x="154836" y="12567"/>
                </a:lnTo>
                <a:lnTo>
                  <a:pt x="161505" y="13681"/>
                </a:lnTo>
                <a:lnTo>
                  <a:pt x="168166" y="14842"/>
                </a:lnTo>
                <a:lnTo>
                  <a:pt x="174819" y="16049"/>
                </a:lnTo>
                <a:lnTo>
                  <a:pt x="181463" y="17304"/>
                </a:lnTo>
                <a:lnTo>
                  <a:pt x="188098" y="18605"/>
                </a:lnTo>
                <a:lnTo>
                  <a:pt x="194724" y="19953"/>
                </a:lnTo>
                <a:lnTo>
                  <a:pt x="201340" y="21348"/>
                </a:lnTo>
                <a:lnTo>
                  <a:pt x="207947" y="22789"/>
                </a:lnTo>
                <a:lnTo>
                  <a:pt x="214542" y="24277"/>
                </a:lnTo>
                <a:lnTo>
                  <a:pt x="221128" y="25811"/>
                </a:lnTo>
                <a:lnTo>
                  <a:pt x="227702" y="27391"/>
                </a:lnTo>
                <a:lnTo>
                  <a:pt x="234265" y="29018"/>
                </a:lnTo>
                <a:lnTo>
                  <a:pt x="240816" y="30691"/>
                </a:lnTo>
                <a:lnTo>
                  <a:pt x="247356" y="32410"/>
                </a:lnTo>
                <a:lnTo>
                  <a:pt x="253883" y="34175"/>
                </a:lnTo>
                <a:lnTo>
                  <a:pt x="260397" y="35986"/>
                </a:lnTo>
                <a:lnTo>
                  <a:pt x="266899" y="37842"/>
                </a:lnTo>
                <a:lnTo>
                  <a:pt x="273387" y="39745"/>
                </a:lnTo>
                <a:lnTo>
                  <a:pt x="279862" y="41693"/>
                </a:lnTo>
                <a:lnTo>
                  <a:pt x="286323" y="43687"/>
                </a:lnTo>
                <a:lnTo>
                  <a:pt x="292770" y="45726"/>
                </a:lnTo>
                <a:lnTo>
                  <a:pt x="299202" y="47810"/>
                </a:lnTo>
                <a:lnTo>
                  <a:pt x="305619" y="49940"/>
                </a:lnTo>
                <a:lnTo>
                  <a:pt x="312021" y="52115"/>
                </a:lnTo>
                <a:lnTo>
                  <a:pt x="318408" y="54335"/>
                </a:lnTo>
                <a:lnTo>
                  <a:pt x="324779" y="56599"/>
                </a:lnTo>
                <a:lnTo>
                  <a:pt x="331134" y="58909"/>
                </a:lnTo>
                <a:lnTo>
                  <a:pt x="337472" y="61263"/>
                </a:lnTo>
                <a:lnTo>
                  <a:pt x="343794" y="63662"/>
                </a:lnTo>
                <a:lnTo>
                  <a:pt x="350099" y="66106"/>
                </a:lnTo>
                <a:lnTo>
                  <a:pt x="356386" y="68593"/>
                </a:lnTo>
                <a:lnTo>
                  <a:pt x="362656" y="71125"/>
                </a:lnTo>
                <a:lnTo>
                  <a:pt x="368907" y="73701"/>
                </a:lnTo>
                <a:lnTo>
                  <a:pt x="375141" y="76321"/>
                </a:lnTo>
                <a:lnTo>
                  <a:pt x="381355" y="78985"/>
                </a:lnTo>
                <a:lnTo>
                  <a:pt x="387551" y="81692"/>
                </a:lnTo>
                <a:lnTo>
                  <a:pt x="393728" y="84443"/>
                </a:lnTo>
                <a:lnTo>
                  <a:pt x="399885" y="87238"/>
                </a:lnTo>
                <a:lnTo>
                  <a:pt x="406022" y="90076"/>
                </a:lnTo>
                <a:lnTo>
                  <a:pt x="412139" y="92957"/>
                </a:lnTo>
                <a:lnTo>
                  <a:pt x="418236" y="95881"/>
                </a:lnTo>
                <a:lnTo>
                  <a:pt x="424312" y="98847"/>
                </a:lnTo>
                <a:lnTo>
                  <a:pt x="430366" y="101857"/>
                </a:lnTo>
                <a:lnTo>
                  <a:pt x="436400" y="104909"/>
                </a:lnTo>
                <a:lnTo>
                  <a:pt x="442412" y="108003"/>
                </a:lnTo>
                <a:lnTo>
                  <a:pt x="448402" y="111140"/>
                </a:lnTo>
                <a:lnTo>
                  <a:pt x="454369" y="114319"/>
                </a:lnTo>
                <a:lnTo>
                  <a:pt x="460315" y="117540"/>
                </a:lnTo>
                <a:lnTo>
                  <a:pt x="466237" y="120802"/>
                </a:lnTo>
                <a:lnTo>
                  <a:pt x="275302" y="464523"/>
                </a:lnTo>
                <a:lnTo>
                  <a:pt x="271805" y="462596"/>
                </a:lnTo>
                <a:lnTo>
                  <a:pt x="268294" y="460694"/>
                </a:lnTo>
                <a:lnTo>
                  <a:pt x="264770" y="458817"/>
                </a:lnTo>
                <a:lnTo>
                  <a:pt x="261233" y="456965"/>
                </a:lnTo>
                <a:lnTo>
                  <a:pt x="257684" y="455138"/>
                </a:lnTo>
                <a:lnTo>
                  <a:pt x="254121" y="453336"/>
                </a:lnTo>
                <a:lnTo>
                  <a:pt x="250546" y="451559"/>
                </a:lnTo>
                <a:lnTo>
                  <a:pt x="246958" y="449807"/>
                </a:lnTo>
                <a:lnTo>
                  <a:pt x="243358" y="448080"/>
                </a:lnTo>
                <a:lnTo>
                  <a:pt x="239746" y="446379"/>
                </a:lnTo>
                <a:lnTo>
                  <a:pt x="236122" y="444704"/>
                </a:lnTo>
                <a:lnTo>
                  <a:pt x="232487" y="443054"/>
                </a:lnTo>
                <a:lnTo>
                  <a:pt x="228839" y="441429"/>
                </a:lnTo>
                <a:lnTo>
                  <a:pt x="225181" y="439830"/>
                </a:lnTo>
                <a:lnTo>
                  <a:pt x="221511" y="438258"/>
                </a:lnTo>
                <a:lnTo>
                  <a:pt x="217831" y="436711"/>
                </a:lnTo>
                <a:lnTo>
                  <a:pt x="214139" y="435190"/>
                </a:lnTo>
                <a:lnTo>
                  <a:pt x="210437" y="433694"/>
                </a:lnTo>
                <a:lnTo>
                  <a:pt x="206725" y="432226"/>
                </a:lnTo>
                <a:lnTo>
                  <a:pt x="203002" y="430783"/>
                </a:lnTo>
                <a:lnTo>
                  <a:pt x="199269" y="429366"/>
                </a:lnTo>
                <a:lnTo>
                  <a:pt x="195527" y="427976"/>
                </a:lnTo>
                <a:lnTo>
                  <a:pt x="191774" y="426612"/>
                </a:lnTo>
                <a:lnTo>
                  <a:pt x="188012" y="425275"/>
                </a:lnTo>
                <a:lnTo>
                  <a:pt x="184241" y="423964"/>
                </a:lnTo>
                <a:lnTo>
                  <a:pt x="180461" y="422680"/>
                </a:lnTo>
                <a:lnTo>
                  <a:pt x="176671" y="421423"/>
                </a:lnTo>
                <a:lnTo>
                  <a:pt x="172873" y="420192"/>
                </a:lnTo>
                <a:lnTo>
                  <a:pt x="169067" y="418988"/>
                </a:lnTo>
                <a:lnTo>
                  <a:pt x="165252" y="417810"/>
                </a:lnTo>
                <a:lnTo>
                  <a:pt x="161428" y="416660"/>
                </a:lnTo>
                <a:lnTo>
                  <a:pt x="157597" y="415537"/>
                </a:lnTo>
                <a:lnTo>
                  <a:pt x="153758" y="414440"/>
                </a:lnTo>
                <a:lnTo>
                  <a:pt x="149911" y="413371"/>
                </a:lnTo>
                <a:lnTo>
                  <a:pt x="146057" y="412329"/>
                </a:lnTo>
                <a:lnTo>
                  <a:pt x="142196" y="411314"/>
                </a:lnTo>
                <a:lnTo>
                  <a:pt x="138328" y="410326"/>
                </a:lnTo>
                <a:lnTo>
                  <a:pt x="134452" y="409366"/>
                </a:lnTo>
                <a:lnTo>
                  <a:pt x="130570" y="408432"/>
                </a:lnTo>
                <a:lnTo>
                  <a:pt x="126682" y="407527"/>
                </a:lnTo>
                <a:lnTo>
                  <a:pt x="122787" y="406648"/>
                </a:lnTo>
                <a:lnTo>
                  <a:pt x="118887" y="405797"/>
                </a:lnTo>
                <a:lnTo>
                  <a:pt x="114980" y="404974"/>
                </a:lnTo>
                <a:lnTo>
                  <a:pt x="111067" y="404178"/>
                </a:lnTo>
                <a:lnTo>
                  <a:pt x="107150" y="403409"/>
                </a:lnTo>
                <a:lnTo>
                  <a:pt x="103226" y="402669"/>
                </a:lnTo>
                <a:lnTo>
                  <a:pt x="99298" y="401955"/>
                </a:lnTo>
                <a:lnTo>
                  <a:pt x="95365" y="401270"/>
                </a:lnTo>
                <a:lnTo>
                  <a:pt x="91427" y="400612"/>
                </a:lnTo>
                <a:lnTo>
                  <a:pt x="87484" y="399982"/>
                </a:lnTo>
                <a:lnTo>
                  <a:pt x="83537" y="399380"/>
                </a:lnTo>
                <a:lnTo>
                  <a:pt x="79586" y="398806"/>
                </a:lnTo>
                <a:lnTo>
                  <a:pt x="75632" y="398259"/>
                </a:lnTo>
                <a:lnTo>
                  <a:pt x="71673" y="397740"/>
                </a:lnTo>
                <a:lnTo>
                  <a:pt x="67711" y="397250"/>
                </a:lnTo>
                <a:lnTo>
                  <a:pt x="63745" y="396787"/>
                </a:lnTo>
                <a:lnTo>
                  <a:pt x="59776" y="396352"/>
                </a:lnTo>
                <a:lnTo>
                  <a:pt x="55804" y="395945"/>
                </a:lnTo>
                <a:lnTo>
                  <a:pt x="51830" y="395566"/>
                </a:lnTo>
                <a:lnTo>
                  <a:pt x="47853" y="395215"/>
                </a:lnTo>
                <a:lnTo>
                  <a:pt x="43873" y="394892"/>
                </a:lnTo>
                <a:lnTo>
                  <a:pt x="39892" y="394597"/>
                </a:lnTo>
                <a:lnTo>
                  <a:pt x="35908" y="394330"/>
                </a:lnTo>
                <a:lnTo>
                  <a:pt x="31923" y="394091"/>
                </a:lnTo>
                <a:lnTo>
                  <a:pt x="27936" y="393880"/>
                </a:lnTo>
                <a:lnTo>
                  <a:pt x="23948" y="393698"/>
                </a:lnTo>
                <a:lnTo>
                  <a:pt x="19958" y="393543"/>
                </a:lnTo>
                <a:lnTo>
                  <a:pt x="15968" y="393416"/>
                </a:lnTo>
                <a:lnTo>
                  <a:pt x="11976" y="393318"/>
                </a:lnTo>
                <a:lnTo>
                  <a:pt x="7984" y="393248"/>
                </a:lnTo>
                <a:lnTo>
                  <a:pt x="3992" y="393206"/>
                </a:lnTo>
                <a:lnTo>
                  <a:pt x="0" y="393192"/>
                </a:lnTo>
                <a:close/>
              </a:path>
            </a:pathLst>
          </a:cu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29116" y="3639312"/>
            <a:ext cx="1133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34C7B5"/>
                </a:solidFill>
                <a:latin typeface="Segoe UI"/>
              </a:rPr>
              <a:t>8,07%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29116" y="3950208"/>
            <a:ext cx="11338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8294A8"/>
                </a:solidFill>
                <a:latin typeface="Segoe UI"/>
              </a:rPr>
              <a:t>inadimplentes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0064" y="5175504"/>
            <a:ext cx="4251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>
                <a:solidFill>
                  <a:srgbClr val="8294A8"/>
                </a:solidFill>
                <a:latin typeface="Segoe UI"/>
              </a:rPr>
              <a:t>Adimplentes 91,93%    </a:t>
            </a:r>
            <a:r>
              <a:rPr sz="950" b="0">
                <a:solidFill>
                  <a:srgbClr val="34C7B5"/>
                </a:solidFill>
                <a:latin typeface="Segoe UI"/>
              </a:rPr>
              <a:t>Inadimplentes 8,07%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75488"/>
            <a:ext cx="118872" cy="256032"/>
          </a:xfrm>
          <a:prstGeom prst="roundRect">
            <a:avLst>
              <a:gd name="adj" fmla="val 4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220">
                <a:solidFill>
                  <a:srgbClr val="4FD1C5"/>
                </a:solidFill>
                <a:latin typeface="Segoe UI"/>
              </a:rPr>
              <a:t>ANALYTICAL BASE TABLE · ABT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105509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De 8 tabelas a uma linha por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0689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B9C7D6"/>
                </a:solidFill>
                <a:latin typeface="Segoe UI"/>
              </a:rPr>
              <a:t>Um cliente tem dezenas de linhas de histórico espalhadas. O modelo precisa de exatamente uma decisão por cliente.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Home Credit Default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3224" y="65105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03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40280"/>
            <a:ext cx="3404616" cy="132588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8096" y="2450592"/>
            <a:ext cx="365760" cy="365760"/>
          </a:xfrm>
          <a:prstGeom prst="ellipse">
            <a:avLst/>
          </a:prstGeom>
          <a:solidFill>
            <a:srgbClr val="112136"/>
          </a:solidFill>
          <a:ln w="9525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2551176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4A90D9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2532888"/>
            <a:ext cx="2526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8 tabelas relacionais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907792"/>
            <a:ext cx="3002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9C7D6"/>
                </a:solidFill>
                <a:latin typeface="Segoe UI"/>
              </a:rPr>
              <a:t>application, bureau, previous_application, installments, POS, credit card…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6408" y="2788920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34C7B5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2167" y="2240280"/>
            <a:ext cx="3404616" cy="132588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593336" y="2450592"/>
            <a:ext cx="365760" cy="365760"/>
          </a:xfrm>
          <a:prstGeom prst="ellipse">
            <a:avLst/>
          </a:prstGeom>
          <a:solidFill>
            <a:srgbClr val="112136"/>
          </a:solidFill>
          <a:ln w="9525">
            <a:solidFill>
              <a:srgbClr val="34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93336" y="2551176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34C7B5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8824" y="2532888"/>
            <a:ext cx="2526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Agregações por cliente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3336" y="2907792"/>
            <a:ext cx="3002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9C7D6"/>
                </a:solidFill>
                <a:latin typeface="Segoe UI"/>
              </a:rPr>
              <a:t>min · max · mean · sum · var comprimem todo o histórico numa linha só.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51647" y="2788920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34C7B5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7408" y="2240280"/>
            <a:ext cx="3404616" cy="132588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418576" y="2450592"/>
            <a:ext cx="365760" cy="365760"/>
          </a:xfrm>
          <a:prstGeom prst="ellipse">
            <a:avLst/>
          </a:prstGeom>
          <a:solidFill>
            <a:srgbClr val="112136"/>
          </a:solidFill>
          <a:ln w="9525">
            <a:solidFill>
              <a:srgbClr val="3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8576" y="2551176"/>
            <a:ext cx="365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3FCF8E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4064" y="2532888"/>
            <a:ext cx="2526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Features derivadas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8576" y="2907792"/>
            <a:ext cx="3002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9C7D6"/>
                </a:solidFill>
                <a:latin typeface="Segoe UI"/>
              </a:rPr>
              <a:t>razões renda/crédito · taxa de pagamento · atraso médio · tendência no bureau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840480"/>
            <a:ext cx="11055096" cy="1371600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2688" y="4133087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34C7B5"/>
                </a:solidFill>
                <a:latin typeface="Segoe UI"/>
              </a:rPr>
              <a:t>836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10128" y="4133087"/>
            <a:ext cx="27432" cy="749808"/>
          </a:xfrm>
          <a:prstGeom prst="roundRect">
            <a:avLst>
              <a:gd name="adj" fmla="val 0"/>
            </a:avLst>
          </a:prstGeom>
          <a:solidFill>
            <a:srgbClr val="213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566160" y="4133087"/>
            <a:ext cx="75803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features entram no modelo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425696"/>
            <a:ext cx="75803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B9C7D6"/>
                </a:solidFill>
                <a:latin typeface="Segoe UI"/>
              </a:rPr>
              <a:t>A ABT final tem 838 colunas: as 836 features, mais SK_ID_CURR e TARGET. </a:t>
            </a:r>
            <a:r>
              <a:rPr sz="1100" b="1">
                <a:solidFill>
                  <a:srgbClr val="34C7B5"/>
                </a:solidFill>
                <a:latin typeface="Segoe UI"/>
              </a:rPr>
              <a:t>Uma tabela única por cliente</a:t>
            </a:r>
            <a:r>
              <a:rPr sz="1100" b="0">
                <a:solidFill>
                  <a:srgbClr val="B9C7D6"/>
                </a:solidFill>
                <a:latin typeface="Segoe UI"/>
              </a:rPr>
              <a:t> — pronta para treino, com o risco relativo já capturado por razões e agregações do histórico.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449824"/>
            <a:ext cx="11055096" cy="493776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749808" y="5614416"/>
            <a:ext cx="45720" cy="164592"/>
          </a:xfrm>
          <a:prstGeom prst="roundRect">
            <a:avLst>
              <a:gd name="adj" fmla="val 5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14400" y="5596128"/>
            <a:ext cx="10506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Só 249 dessas features vêm do formulário de proposta. </a:t>
            </a:r>
            <a:r>
              <a:rPr sz="1100" b="0">
                <a:solidFill>
                  <a:srgbClr val="B9C7D6"/>
                </a:solidFill>
                <a:latin typeface="Segoe UI"/>
              </a:rPr>
              <a:t>As outras 587 vêm do que o cliente já deixou registrado: bureau, cartão, parcelas e aplicações anteriores.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75488"/>
            <a:ext cx="118872" cy="256032"/>
          </a:xfrm>
          <a:prstGeom prst="roundRect">
            <a:avLst>
              <a:gd name="adj" fmla="val 4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220">
                <a:solidFill>
                  <a:srgbClr val="4FD1C5"/>
                </a:solidFill>
                <a:latin typeface="Segoe UI"/>
              </a:rPr>
              <a:t>CICLO DE DESENVOLVIMENTO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105509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Do baseline ao LightGBM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0689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B9C7D6"/>
                </a:solidFill>
                <a:latin typeface="Segoe UI"/>
              </a:rPr>
              <a:t>Só vale adotar o modelo complexo se o ganho justificar — e com o overfitting sob controle.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Home Credit Default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3224" y="65105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04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21408"/>
            <a:ext cx="5381244" cy="274320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359152"/>
            <a:ext cx="49057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294A8"/>
                </a:solidFill>
                <a:latin typeface="Segoe UI"/>
              </a:rPr>
              <a:t>ROC-AUC (out-of-fold)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4320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Regressão Logística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9452" y="2743200"/>
            <a:ext cx="9509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1">
                <a:solidFill>
                  <a:srgbClr val="B9C7D6"/>
                </a:solidFill>
                <a:latin typeface="Segoe UI"/>
              </a:rPr>
              <a:t>0,7730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3017520"/>
            <a:ext cx="4905756" cy="237744"/>
          </a:xfrm>
          <a:prstGeom prst="roundRect">
            <a:avLst>
              <a:gd name="adj" fmla="val 40000"/>
            </a:avLst>
          </a:prstGeom>
          <a:solidFill>
            <a:srgbClr val="1B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04672" y="3017520"/>
            <a:ext cx="1373611" cy="237744"/>
          </a:xfrm>
          <a:prstGeom prst="roundRect">
            <a:avLst>
              <a:gd name="adj" fmla="val 40000"/>
            </a:avLst>
          </a:prstGeom>
          <a:solidFill>
            <a:srgbClr val="A8B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" y="3511296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LightGBM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9452" y="3511296"/>
            <a:ext cx="9509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1">
                <a:solidFill>
                  <a:srgbClr val="34C7B5"/>
                </a:solidFill>
                <a:latin typeface="Segoe UI"/>
              </a:rPr>
              <a:t>0,7909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3785615"/>
            <a:ext cx="4905756" cy="237744"/>
          </a:xfrm>
          <a:prstGeom prst="roundRect">
            <a:avLst>
              <a:gd name="adj" fmla="val 40000"/>
            </a:avLst>
          </a:prstGeom>
          <a:solidFill>
            <a:srgbClr val="1B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04672" y="3785615"/>
            <a:ext cx="3237798" cy="237744"/>
          </a:xfrm>
          <a:prstGeom prst="roundRect">
            <a:avLst>
              <a:gd name="adj" fmla="val 4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04672" y="4261104"/>
            <a:ext cx="4905756" cy="365760"/>
          </a:xfrm>
          <a:prstGeom prst="roundRect">
            <a:avLst>
              <a:gd name="adj" fmla="val 45000"/>
            </a:avLst>
          </a:prstGeom>
          <a:solidFill>
            <a:srgbClr val="112136"/>
          </a:solidFill>
          <a:ln w="9525">
            <a:solidFill>
              <a:srgbClr val="3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4672" y="4352544"/>
            <a:ext cx="49057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3FCF8E"/>
                </a:solidFill>
                <a:latin typeface="Segoe UI"/>
              </a:rPr>
              <a:t>▲ +1,8 p.p. de AUC — o ganho justifica a complexidade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0780" y="2121408"/>
            <a:ext cx="5381244" cy="128016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78524" y="2340864"/>
            <a:ext cx="49057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200">
                <a:solidFill>
                  <a:srgbClr val="4FD1C5"/>
                </a:solidFill>
                <a:latin typeface="Segoe UI"/>
              </a:rPr>
              <a:t>CONTROLE DE OVERFITTING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8524" y="2633472"/>
            <a:ext cx="2379726" cy="310896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A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8252" y="2706624"/>
            <a:ext cx="216027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FCF8E"/>
                </a:solidFill>
                <a:latin typeface="Segoe UI"/>
              </a:rPr>
              <a:t>✓ </a:t>
            </a:r>
            <a:r>
              <a:rPr sz="1000" b="0">
                <a:solidFill>
                  <a:srgbClr val="B9C7D6"/>
                </a:solidFill>
                <a:latin typeface="Segoe UI"/>
              </a:rPr>
              <a:t>K-Fold estratificado (5)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4554" y="2633472"/>
            <a:ext cx="2379726" cy="310896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A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14282" y="2706624"/>
            <a:ext cx="216027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FCF8E"/>
                </a:solidFill>
                <a:latin typeface="Segoe UI"/>
              </a:rPr>
              <a:t>✓ </a:t>
            </a:r>
            <a:r>
              <a:rPr sz="1000" b="0">
                <a:solidFill>
                  <a:srgbClr val="B9C7D6"/>
                </a:solidFill>
                <a:latin typeface="Segoe UI"/>
              </a:rPr>
              <a:t>Early stopping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78524" y="3035808"/>
            <a:ext cx="2379726" cy="310896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A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8252" y="3108960"/>
            <a:ext cx="216027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FCF8E"/>
                </a:solidFill>
                <a:latin typeface="Segoe UI"/>
              </a:rPr>
              <a:t>✓ </a:t>
            </a:r>
            <a:r>
              <a:rPr sz="1000" b="0">
                <a:solidFill>
                  <a:srgbClr val="B9C7D6"/>
                </a:solidFill>
                <a:latin typeface="Segoe UI"/>
              </a:rPr>
              <a:t>Regularização L1 / L2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4554" y="3035808"/>
            <a:ext cx="2379726" cy="310896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A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14282" y="3108960"/>
            <a:ext cx="216027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FCF8E"/>
                </a:solidFill>
                <a:latin typeface="Segoe UI"/>
              </a:rPr>
              <a:t>✓ </a:t>
            </a:r>
            <a:r>
              <a:rPr sz="1000" b="0">
                <a:solidFill>
                  <a:srgbClr val="B9C7D6"/>
                </a:solidFill>
                <a:latin typeface="Segoe UI"/>
              </a:rPr>
              <a:t>Árvores rasas · max_depth = 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0780" y="3584448"/>
            <a:ext cx="5381244" cy="128016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78524" y="3803904"/>
            <a:ext cx="49057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200">
                <a:solidFill>
                  <a:srgbClr val="F0B429"/>
                </a:solidFill>
                <a:latin typeface="Segoe UI"/>
              </a:rPr>
              <a:t>TUNING · OPTUNA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8524" y="4059936"/>
            <a:ext cx="49057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B9C7D6"/>
                </a:solidFill>
                <a:latin typeface="Segoe UI"/>
              </a:rPr>
              <a:t>num_leaves = 18  ·  max_depth = 4  ·  learning_rate = 0,025  ·  n_estimators = 2319  ·  min_child_samples = 149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120640"/>
            <a:ext cx="11055096" cy="493776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749808" y="5285232"/>
            <a:ext cx="45720" cy="164592"/>
          </a:xfrm>
          <a:prstGeom prst="roundRect">
            <a:avLst>
              <a:gd name="adj" fmla="val 5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14400" y="5266944"/>
            <a:ext cx="10506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B9C7D6"/>
                </a:solidFill>
                <a:latin typeface="Segoe UI"/>
              </a:rPr>
              <a:t>A diferença entre 0,7730 e 0,7909 parece pequena no papel. </a:t>
            </a:r>
            <a:r>
              <a:rPr sz="1100" b="1">
                <a:solidFill>
                  <a:srgbClr val="FFFFFF"/>
                </a:solidFill>
                <a:latin typeface="Segoe UI"/>
              </a:rPr>
              <a:t>Numa carteira de 300 mil contratos, ela é a fronteira entre aprovar e recusar milhares de clientes.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75488"/>
            <a:ext cx="118872" cy="256032"/>
          </a:xfrm>
          <a:prstGeom prst="roundRect">
            <a:avLst>
              <a:gd name="adj" fmla="val 4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220">
                <a:solidFill>
                  <a:srgbClr val="4FD1C5"/>
                </a:solidFill>
                <a:latin typeface="Segoe UI"/>
              </a:rPr>
              <a:t>AVALIAÇÃO &amp; EXPLICABILIDADE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105509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Dá para confiar na decisão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0689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B9C7D6"/>
                </a:solidFill>
                <a:latin typeface="Segoe UI"/>
              </a:rPr>
              <a:t>Métricas sem vazamento, folds consistentes e explicação individual de cada crédito concedido ou negado.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Home Credit Default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3224" y="65105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05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93392"/>
            <a:ext cx="2544318" cy="1481328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2348910"/>
            <a:ext cx="254431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34C7B5"/>
                </a:solidFill>
                <a:latin typeface="Segoe UI"/>
              </a:rPr>
              <a:t>0,7909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60974"/>
            <a:ext cx="22517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8294A8"/>
                </a:solidFill>
                <a:latin typeface="Segoe UI"/>
              </a:rPr>
              <a:t>AUC-ROC out-of-fold
cada cliente pontuado sem se ver no treino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3854" y="1993392"/>
            <a:ext cx="2544318" cy="1481328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03854" y="2348910"/>
            <a:ext cx="254431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34C7B5"/>
                </a:solidFill>
                <a:latin typeface="Segoe UI"/>
              </a:rPr>
              <a:t>0,4424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0158" y="2860974"/>
            <a:ext cx="22517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8294A8"/>
                </a:solidFill>
                <a:latin typeface="Segoe UI"/>
              </a:rPr>
              <a:t>KS
separação entre bons e maus pagadores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0780" y="1993392"/>
            <a:ext cx="2544318" cy="1481328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40780" y="2348910"/>
            <a:ext cx="254431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34C7B5"/>
                </a:solidFill>
                <a:latin typeface="Segoe UI"/>
              </a:rPr>
              <a:t>0,5818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7084" y="2860974"/>
            <a:ext cx="22517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8294A8"/>
                </a:solidFill>
                <a:latin typeface="Segoe UI"/>
              </a:rPr>
              <a:t>Gini
(2 × AUC − 1)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7706" y="1993392"/>
            <a:ext cx="2544318" cy="1481328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077706" y="2348910"/>
            <a:ext cx="254431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3FCF8E"/>
                </a:solidFill>
                <a:latin typeface="Segoe UI"/>
              </a:rPr>
              <a:t>SHAP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4010" y="2860974"/>
            <a:ext cx="22517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8294A8"/>
                </a:solidFill>
                <a:latin typeface="Segoe UI"/>
              </a:rPr>
              <a:t>explica cada decisão
“por que este cliente foi recusado?”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621024"/>
            <a:ext cx="5381244" cy="2322576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86384" y="3822191"/>
            <a:ext cx="49423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294A8"/>
                </a:solidFill>
                <a:latin typeface="Segoe UI"/>
              </a:rPr>
              <a:t>Drivers de risco · nº de splits, média entre os 5 folds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160520"/>
            <a:ext cx="16093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B9C7D6"/>
                </a:solidFill>
                <a:latin typeface="Segoe UI"/>
              </a:rPr>
              <a:t>EXT_SOURCE_3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05456" y="4133087"/>
            <a:ext cx="3223260" cy="164592"/>
          </a:xfrm>
          <a:prstGeom prst="roundRect">
            <a:avLst>
              <a:gd name="adj" fmla="val 25000"/>
            </a:avLst>
          </a:prstGeom>
          <a:solidFill>
            <a:srgbClr val="1B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2505456" y="4133087"/>
            <a:ext cx="3223260" cy="164592"/>
          </a:xfrm>
          <a:prstGeom prst="roundRect">
            <a:avLst>
              <a:gd name="adj" fmla="val 25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4407408"/>
            <a:ext cx="16093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B9C7D6"/>
                </a:solidFill>
                <a:latin typeface="Segoe UI"/>
              </a:rPr>
              <a:t>EXT_SOURCE_1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05456" y="4379976"/>
            <a:ext cx="3223260" cy="164592"/>
          </a:xfrm>
          <a:prstGeom prst="roundRect">
            <a:avLst>
              <a:gd name="adj" fmla="val 25000"/>
            </a:avLst>
          </a:prstGeom>
          <a:solidFill>
            <a:srgbClr val="1B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2505456" y="4379976"/>
            <a:ext cx="3128716" cy="164592"/>
          </a:xfrm>
          <a:prstGeom prst="roundRect">
            <a:avLst>
              <a:gd name="adj" fmla="val 25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6384" y="4654296"/>
            <a:ext cx="16093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B9C7D6"/>
                </a:solidFill>
                <a:latin typeface="Segoe UI"/>
              </a:rPr>
              <a:t>PAYMENT_RATE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05456" y="4626864"/>
            <a:ext cx="3223260" cy="164592"/>
          </a:xfrm>
          <a:prstGeom prst="roundRect">
            <a:avLst>
              <a:gd name="adj" fmla="val 25000"/>
            </a:avLst>
          </a:prstGeom>
          <a:solidFill>
            <a:srgbClr val="1B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2505456" y="4626864"/>
            <a:ext cx="2985802" cy="164592"/>
          </a:xfrm>
          <a:prstGeom prst="roundRect">
            <a:avLst>
              <a:gd name="adj" fmla="val 25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6384" y="4901184"/>
            <a:ext cx="16093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B9C7D6"/>
                </a:solidFill>
                <a:latin typeface="Segoe UI"/>
              </a:rPr>
              <a:t>EXT_SOURCE_2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05456" y="4873752"/>
            <a:ext cx="3223260" cy="164592"/>
          </a:xfrm>
          <a:prstGeom prst="roundRect">
            <a:avLst>
              <a:gd name="adj" fmla="val 25000"/>
            </a:avLst>
          </a:prstGeom>
          <a:solidFill>
            <a:srgbClr val="1B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2505456" y="4873752"/>
            <a:ext cx="2571352" cy="164592"/>
          </a:xfrm>
          <a:prstGeom prst="roundRect">
            <a:avLst>
              <a:gd name="adj" fmla="val 25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86384" y="5148072"/>
            <a:ext cx="16093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B9C7D6"/>
                </a:solidFill>
                <a:latin typeface="Segoe UI"/>
              </a:rPr>
              <a:t>DAYS_BIRTH (idade)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05456" y="5120640"/>
            <a:ext cx="3223260" cy="164592"/>
          </a:xfrm>
          <a:prstGeom prst="roundRect">
            <a:avLst>
              <a:gd name="adj" fmla="val 25000"/>
            </a:avLst>
          </a:prstGeom>
          <a:solidFill>
            <a:srgbClr val="1B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2505456" y="5120640"/>
            <a:ext cx="2359180" cy="164592"/>
          </a:xfrm>
          <a:prstGeom prst="roundRect">
            <a:avLst>
              <a:gd name="adj" fmla="val 25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86384" y="5394960"/>
            <a:ext cx="16093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B9C7D6"/>
                </a:solidFill>
                <a:latin typeface="Segoe UI"/>
              </a:rPr>
              <a:t>AMT_ANNUITY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05456" y="5367528"/>
            <a:ext cx="3223260" cy="164592"/>
          </a:xfrm>
          <a:prstGeom prst="roundRect">
            <a:avLst>
              <a:gd name="adj" fmla="val 25000"/>
            </a:avLst>
          </a:prstGeom>
          <a:solidFill>
            <a:srgbClr val="1B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2505456" y="5367528"/>
            <a:ext cx="1634716" cy="164592"/>
          </a:xfrm>
          <a:prstGeom prst="roundRect">
            <a:avLst>
              <a:gd name="adj" fmla="val 25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86384" y="5641848"/>
            <a:ext cx="16093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50" b="0">
                <a:solidFill>
                  <a:srgbClr val="B9C7D6"/>
                </a:solidFill>
                <a:latin typeface="Segoe UI"/>
              </a:rPr>
              <a:t>CREDIT_GOODS_PRICE_RATIO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05456" y="5614416"/>
            <a:ext cx="3223260" cy="164592"/>
          </a:xfrm>
          <a:prstGeom prst="roundRect">
            <a:avLst>
              <a:gd name="adj" fmla="val 25000"/>
            </a:avLst>
          </a:prstGeom>
          <a:solidFill>
            <a:srgbClr val="1B2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2505456" y="5614416"/>
            <a:ext cx="1627020" cy="164592"/>
          </a:xfrm>
          <a:prstGeom prst="roundRect">
            <a:avLst>
              <a:gd name="adj" fmla="val 25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6240780" y="3621024"/>
            <a:ext cx="5381244" cy="2322576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460236" y="3822191"/>
            <a:ext cx="49423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200">
                <a:solidFill>
                  <a:srgbClr val="F0B429"/>
                </a:solidFill>
                <a:latin typeface="Segoe UI"/>
              </a:rPr>
              <a:t>POLÍTICA DE DECISÃO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60236" y="4096512"/>
            <a:ext cx="1389888" cy="365760"/>
          </a:xfrm>
          <a:prstGeom prst="roundRect">
            <a:avLst>
              <a:gd name="adj" fmla="val 45000"/>
            </a:avLst>
          </a:prstGeom>
          <a:solidFill>
            <a:srgbClr val="112136"/>
          </a:solidFill>
          <a:ln w="9525">
            <a:solidFill>
              <a:srgbClr val="3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460236" y="4187952"/>
            <a:ext cx="13898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3FCF8E"/>
                </a:solidFill>
                <a:latin typeface="Segoe UI"/>
              </a:rPr>
              <a:t>PD &lt; 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96427" y="4197096"/>
            <a:ext cx="34061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B9C7D6"/>
                </a:solidFill>
                <a:latin typeface="Segoe UI"/>
              </a:rPr>
              <a:t>aprovar automaticamente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60236" y="4572000"/>
            <a:ext cx="1389888" cy="365760"/>
          </a:xfrm>
          <a:prstGeom prst="roundRect">
            <a:avLst>
              <a:gd name="adj" fmla="val 45000"/>
            </a:avLst>
          </a:prstGeom>
          <a:solidFill>
            <a:srgbClr val="112136"/>
          </a:solidFill>
          <a:ln w="952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460236" y="4663440"/>
            <a:ext cx="13898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F0B429"/>
                </a:solidFill>
                <a:latin typeface="Segoe UI"/>
              </a:rPr>
              <a:t>8% – 30%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96427" y="4672584"/>
            <a:ext cx="34061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B9C7D6"/>
                </a:solidFill>
                <a:latin typeface="Segoe UI"/>
              </a:rPr>
              <a:t>análise manual (zona incerta)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60236" y="5047488"/>
            <a:ext cx="1389888" cy="365760"/>
          </a:xfrm>
          <a:prstGeom prst="roundRect">
            <a:avLst>
              <a:gd name="adj" fmla="val 45000"/>
            </a:avLst>
          </a:prstGeom>
          <a:solidFill>
            <a:srgbClr val="112136"/>
          </a:solidFill>
          <a:ln w="9525">
            <a:solidFill>
              <a:srgbClr val="F2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460236" y="5138928"/>
            <a:ext cx="13898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F26D6D"/>
                </a:solidFill>
                <a:latin typeface="Segoe UI"/>
              </a:rPr>
              <a:t>&gt; 30%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96427" y="5148072"/>
            <a:ext cx="34061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B9C7D6"/>
                </a:solidFill>
                <a:latin typeface="Segoe UI"/>
              </a:rPr>
              <a:t>recusar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60236" y="5596128"/>
            <a:ext cx="49423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294A8"/>
                </a:solidFill>
                <a:latin typeface="Segoe UI"/>
              </a:rPr>
              <a:t>KPIs de negócio: </a:t>
            </a:r>
            <a:r>
              <a:rPr sz="1000" b="0">
                <a:solidFill>
                  <a:srgbClr val="B9C7D6"/>
                </a:solidFill>
                <a:latin typeface="Segoe UI"/>
              </a:rPr>
              <a:t>corte de recusa · inadimplência evitada · resultado líquido em R$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75488"/>
            <a:ext cx="118872" cy="256032"/>
          </a:xfrm>
          <a:prstGeom prst="roundRect">
            <a:avLst>
              <a:gd name="adj" fmla="val 4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220">
                <a:solidFill>
                  <a:srgbClr val="4FD1C5"/>
                </a:solidFill>
                <a:latin typeface="Segoe UI"/>
              </a:rPr>
              <a:t>ARQUITETURA · O DESENHO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105509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Como a aplicação está montada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0689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B9C7D6"/>
                </a:solidFill>
                <a:latin typeface="Segoe UI"/>
              </a:rPr>
              <a:t>Todo o caminho, da tabela bruta até a tela do analista — com quem dispara cada etapa, onde os dados ficam gravados e quem lê de onde.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Home Credit Default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3224" y="65105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06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11055096" cy="658368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49808" y="2048256"/>
            <a:ext cx="45720" cy="310896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2011680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spc="180">
                <a:solidFill>
                  <a:srgbClr val="F0B429"/>
                </a:solidFill>
                <a:latin typeface="Segoe UI"/>
              </a:rPr>
              <a:t>APACHE AIRFLOW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1920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294A8"/>
                </a:solidFill>
                <a:latin typeface="Segoe UI"/>
              </a:rPr>
              <a:t>orquestração · 4 DAGs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029968"/>
            <a:ext cx="2084831" cy="347472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51760" y="2112264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B9C7D6"/>
                </a:solidFill>
                <a:latin typeface="Segoe UI"/>
              </a:rPr>
              <a:t>credit_risk_ingestion</a:t>
            </a:r>
            <a:r>
              <a:rPr sz="850" b="0">
                <a:solidFill>
                  <a:srgbClr val="F0B429"/>
                </a:solidFill>
                <a:latin typeface="Segoe UI"/>
              </a:rPr>
              <a:t>   @daily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029968"/>
            <a:ext cx="2084831" cy="347472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846320" y="2112264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B9C7D6"/>
                </a:solidFill>
                <a:latin typeface="Segoe UI"/>
              </a:rPr>
              <a:t>credit_risk_training</a:t>
            </a:r>
            <a:r>
              <a:rPr sz="850" b="0">
                <a:solidFill>
                  <a:srgbClr val="F0B429"/>
                </a:solidFill>
                <a:latin typeface="Segoe UI"/>
              </a:rPr>
              <a:t>   manual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029968"/>
            <a:ext cx="2084831" cy="347472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40880" y="2112264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B9C7D6"/>
                </a:solidFill>
                <a:latin typeface="Segoe UI"/>
              </a:rPr>
              <a:t>credit_risk_batch_scoring</a:t>
            </a:r>
            <a:r>
              <a:rPr sz="850" b="0">
                <a:solidFill>
                  <a:srgbClr val="F0B429"/>
                </a:solidFill>
                <a:latin typeface="Segoe UI"/>
              </a:rPr>
              <a:t>   @daily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029968"/>
            <a:ext cx="2084831" cy="347472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235440" y="2112264"/>
            <a:ext cx="20848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B9C7D6"/>
                </a:solidFill>
                <a:latin typeface="Segoe UI"/>
              </a:rPr>
              <a:t>credit_risk_monitoring</a:t>
            </a:r>
            <a:r>
              <a:rPr sz="850" b="0">
                <a:solidFill>
                  <a:srgbClr val="F0B429"/>
                </a:solidFill>
                <a:latin typeface="Segoe UI"/>
              </a:rPr>
              <a:t>   @daily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1528" y="2578608"/>
            <a:ext cx="2560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F0B429"/>
                </a:solidFill>
                <a:latin typeface="Segoe UI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2704" y="2578608"/>
            <a:ext cx="2560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F0B429"/>
                </a:solidFill>
                <a:latin typeface="Segoe UI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578608"/>
            <a:ext cx="2560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F0B429"/>
                </a:solidFill>
                <a:latin typeface="Segoe U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108960"/>
            <a:ext cx="1463040" cy="155448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1520" y="3255264"/>
            <a:ext cx="11338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8294A8"/>
                </a:solidFill>
                <a:latin typeface="Segoe UI"/>
              </a:rPr>
              <a:t>Dados brutos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493008"/>
            <a:ext cx="1133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8294A8"/>
                </a:solidFill>
                <a:latin typeface="Segoe UI"/>
              </a:rPr>
              <a:t>8 arquivos 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12463"/>
            <a:ext cx="113385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B9C7D6"/>
                </a:solidFill>
                <a:latin typeface="Segoe UI"/>
              </a:rPr>
              <a:t>application · bureau · previous · installments · POS · credit card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40864" y="3108960"/>
            <a:ext cx="1737360" cy="155448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505456" y="3255264"/>
            <a:ext cx="14081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4A90D9"/>
                </a:solidFill>
                <a:latin typeface="Segoe UI"/>
              </a:rPr>
              <a:t>DataPipeline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05456" y="3493008"/>
            <a:ext cx="140817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8294A8"/>
                </a:solidFill>
                <a:latin typeface="Segoe UI"/>
              </a:rPr>
              <a:t>Python · pandas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05456" y="3712463"/>
            <a:ext cx="140817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B9C7D6"/>
                </a:solidFill>
                <a:latin typeface="Segoe UI"/>
              </a:rPr>
              <a:t>data_sanitization.py
abt_transform.py
agrega o histórico e deriva as razões de risco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43216" y="3108960"/>
            <a:ext cx="1737360" cy="155448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607808" y="3255264"/>
            <a:ext cx="14081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3FCF8E"/>
                </a:solidFill>
                <a:latin typeface="Segoe UI"/>
              </a:rPr>
              <a:t>FastAPI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3493008"/>
            <a:ext cx="140817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8294A8"/>
                </a:solidFill>
                <a:latin typeface="Segoe UI"/>
              </a:rPr>
              <a:t>a API não recebe as 836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3712463"/>
            <a:ext cx="1408176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B9C7D6"/>
                </a:solidFill>
                <a:latin typeface="Segoe UI"/>
              </a:rPr>
              <a:t>POST /predict/{id}
POST /explain/{id}
GET  /monitoring/*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425696"/>
            <a:ext cx="140817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8294A8"/>
                </a:solidFill>
                <a:latin typeface="Segoe UI"/>
              </a:rPr>
              <a:t>porta 8000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91472" y="3108960"/>
            <a:ext cx="2130552" cy="155448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656064" y="3255264"/>
            <a:ext cx="18013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3FCF8E"/>
                </a:solidFill>
                <a:latin typeface="Segoe UI"/>
              </a:rPr>
              <a:t>Streamlit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56064" y="3493008"/>
            <a:ext cx="18013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8294A8"/>
                </a:solidFill>
                <a:latin typeface="Segoe UI"/>
              </a:rPr>
              <a:t>cliente HTTP puro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56064" y="3712463"/>
            <a:ext cx="180136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B9C7D6"/>
                </a:solidFill>
                <a:latin typeface="Segoe UI"/>
              </a:rPr>
              <a:t>simula alterações do cliente
mostra a explicação SHAP
página de monitoramento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56064" y="4425696"/>
            <a:ext cx="18013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8294A8"/>
                </a:solidFill>
                <a:latin typeface="Segoe UI"/>
              </a:rPr>
              <a:t>porta 8501 · não carrega o modelo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0" y="2798064"/>
            <a:ext cx="2743200" cy="2048256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34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553712" y="2944368"/>
            <a:ext cx="24140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4C7B5"/>
                </a:solidFill>
                <a:latin typeface="Segoe UI"/>
              </a:rPr>
              <a:t>PostgreSQL 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3712" y="3182112"/>
            <a:ext cx="241401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8294A8"/>
                </a:solidFill>
                <a:latin typeface="Segoe UI"/>
              </a:rPr>
              <a:t>4 schemas · 7 tabelas · 4,0 GB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53712" y="3401568"/>
            <a:ext cx="2414016" cy="256032"/>
          </a:xfrm>
          <a:prstGeom prst="roundRect">
            <a:avLst>
              <a:gd name="adj" fmla="val 20000"/>
            </a:avLst>
          </a:prstGeom>
          <a:solidFill>
            <a:srgbClr val="11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645152" y="3447288"/>
            <a:ext cx="2231136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>
                <a:solidFill>
                  <a:srgbClr val="FFFFFF"/>
                </a:solidFill>
                <a:latin typeface="Segoe UI"/>
              </a:rPr>
              <a:t>staging.clean_data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45152" y="3547872"/>
            <a:ext cx="2231136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8294A8"/>
                </a:solidFill>
                <a:latin typeface="Segoe UI"/>
              </a:rPr>
              <a:t>dados limpos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53712" y="3694176"/>
            <a:ext cx="2414016" cy="256032"/>
          </a:xfrm>
          <a:prstGeom prst="roundRect">
            <a:avLst>
              <a:gd name="adj" fmla="val 20000"/>
            </a:avLst>
          </a:prstGeom>
          <a:solidFill>
            <a:srgbClr val="11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645152" y="3739896"/>
            <a:ext cx="2231136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>
                <a:solidFill>
                  <a:srgbClr val="FFFFFF"/>
                </a:solidFill>
                <a:latin typeface="Segoe UI"/>
              </a:rPr>
              <a:t>feature_store.abt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5152" y="3840480"/>
            <a:ext cx="2231136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8294A8"/>
                </a:solidFill>
                <a:latin typeface="Segoe UI"/>
              </a:rPr>
              <a:t>356.251 clientes · 836 features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53712" y="3986784"/>
            <a:ext cx="2414016" cy="256032"/>
          </a:xfrm>
          <a:prstGeom prst="roundRect">
            <a:avLst>
              <a:gd name="adj" fmla="val 20000"/>
            </a:avLst>
          </a:prstGeom>
          <a:solidFill>
            <a:srgbClr val="11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645152" y="4032504"/>
            <a:ext cx="2231136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>
                <a:solidFill>
                  <a:srgbClr val="FFFFFF"/>
                </a:solidFill>
                <a:latin typeface="Segoe UI"/>
              </a:rPr>
              <a:t>serving.predictions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45152" y="4133087"/>
            <a:ext cx="2231136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8294A8"/>
                </a:solidFill>
                <a:latin typeface="Segoe UI"/>
              </a:rPr>
              <a:t>log de toda decisão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53712" y="4279392"/>
            <a:ext cx="2414016" cy="256032"/>
          </a:xfrm>
          <a:prstGeom prst="roundRect">
            <a:avLst>
              <a:gd name="adj" fmla="val 20000"/>
            </a:avLst>
          </a:prstGeom>
          <a:solidFill>
            <a:srgbClr val="11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4645152" y="4325112"/>
            <a:ext cx="2231136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1">
                <a:solidFill>
                  <a:srgbClr val="FFFFFF"/>
                </a:solidFill>
                <a:latin typeface="Segoe UI"/>
              </a:rPr>
              <a:t>mlops.*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45152" y="4425696"/>
            <a:ext cx="2231136" cy="100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8294A8"/>
                </a:solidFill>
                <a:latin typeface="Segoe UI"/>
              </a:rPr>
              <a:t>registry · drift · performance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53712" y="4608576"/>
            <a:ext cx="241401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34C7B5"/>
                </a:solidFill>
                <a:latin typeface="Segoe UI"/>
              </a:rPr>
              <a:t>leitura de um cliente inteiro: 1,9 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29968" y="3767328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34C7B5"/>
                </a:solidFill>
                <a:latin typeface="Segoe UI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78224" y="3767328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34C7B5"/>
                </a:solidFill>
                <a:latin typeface="Segoe UI"/>
              </a:rP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0" y="3767328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34C7B5"/>
                </a:solidFill>
                <a:latin typeface="Segoe UI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3767328"/>
            <a:ext cx="310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34C7B5"/>
                </a:solidFill>
                <a:latin typeface="Segoe UI"/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32704" y="4828032"/>
            <a:ext cx="2560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F26D6D"/>
                </a:solidFill>
                <a:latin typeface="Segoe UI"/>
              </a:rPr>
              <a:t>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83879" y="4681728"/>
            <a:ext cx="2560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3FCF8E"/>
                </a:solidFill>
                <a:latin typeface="Segoe UI"/>
              </a:rPr>
              <a:t>↑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89120" y="5047488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F2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4553712" y="5193792"/>
            <a:ext cx="24140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F26D6D"/>
                </a:solidFill>
                <a:latin typeface="Segoe UI"/>
              </a:rPr>
              <a:t>MLOps.monitoring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53712" y="5431536"/>
            <a:ext cx="241401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B9C7D6"/>
                </a:solidFill>
                <a:latin typeface="Segoe UI"/>
              </a:rPr>
              <a:t>lê a população do banco, calcula PSI e AUC
e grava o resultado de volta em mlops.*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443216" y="5047488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3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7607808" y="5193792"/>
            <a:ext cx="14081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FCF8E"/>
                </a:solidFill>
                <a:latin typeface="Segoe UI"/>
              </a:rPr>
              <a:t>Model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07808" y="5431536"/>
            <a:ext cx="140817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B9C7D6"/>
                </a:solidFill>
                <a:latin typeface="Segoe UI"/>
              </a:rPr>
              <a:t>lgbm_model.joblib
SHAP TreeExplainer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66928" y="5047488"/>
            <a:ext cx="3511296" cy="914400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31520" y="5193792"/>
            <a:ext cx="31821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180">
                <a:solidFill>
                  <a:srgbClr val="4FD1C5"/>
                </a:solidFill>
                <a:latin typeface="Segoe UI"/>
              </a:rPr>
              <a:t>TECNOLOGIAS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5413248"/>
            <a:ext cx="3182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>
                <a:solidFill>
                  <a:srgbClr val="B9C7D6"/>
                </a:solidFill>
                <a:latin typeface="Segoe UI"/>
              </a:rPr>
              <a:t>Python 3.11 · pandas · LightGBM · SHAP · Optuna
PostgreSQL 16 · SQLAlchemy 2 · FastAPI · Streamlit
Apache Airflow 2.10 · Docker Compose · 4 contêineres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491472" y="5047488"/>
            <a:ext cx="2130552" cy="914400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34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656064" y="5193792"/>
            <a:ext cx="180136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1">
                <a:solidFill>
                  <a:srgbClr val="FFFFFF"/>
                </a:solidFill>
                <a:latin typeface="Segoe UI"/>
              </a:rPr>
              <a:t>O modelo não é o fim da linha.</a:t>
            </a:r>
          </a:p>
          <a:p>
            <a:pPr algn="l">
              <a:lnSpc>
                <a:spcPct val="140000"/>
              </a:lnSpc>
              <a:spcBef>
                <a:spcPts val="500"/>
              </a:spcBef>
            </a:pPr>
            <a:r>
              <a:rPr sz="850" b="0">
                <a:solidFill>
                  <a:srgbClr val="B9C7D6"/>
                </a:solidFill>
                <a:latin typeface="Segoe UI"/>
              </a:rPr>
              <a:t>Quem guarda o estado é o banco, e é dele que a API lê.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75488"/>
            <a:ext cx="118872" cy="256032"/>
          </a:xfrm>
          <a:prstGeom prst="roundRect">
            <a:avLst>
              <a:gd name="adj" fmla="val 4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220">
                <a:solidFill>
                  <a:srgbClr val="4FD1C5"/>
                </a:solidFill>
                <a:latin typeface="Segoe UI"/>
              </a:rPr>
              <a:t>PERSISTÊNCIA · O BANCO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105509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Onde tudo fica gravado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0689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B9C7D6"/>
                </a:solidFill>
                <a:latin typeface="Segoe UI"/>
              </a:rPr>
              <a:t>PostgreSQL 16, quatro schemas. Cada um responde a uma pergunta diferente sobre a operação.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Home Credit Default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3224" y="65105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07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56816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49808" y="2139696"/>
            <a:ext cx="45720" cy="182880"/>
          </a:xfrm>
          <a:prstGeom prst="roundRect">
            <a:avLst>
              <a:gd name="adj" fmla="val 50000"/>
            </a:avLst>
          </a:prstGeom>
          <a:solidFill>
            <a:srgbClr val="829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2103120"/>
            <a:ext cx="6217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8294A8"/>
                </a:solidFill>
                <a:latin typeface="Segoe UI"/>
              </a:rPr>
              <a:t>staging</a:t>
            </a:r>
            <a:r>
              <a:rPr sz="1050" b="0">
                <a:solidFill>
                  <a:srgbClr val="FFFFFF"/>
                </a:solidFill>
                <a:latin typeface="Segoe UI"/>
              </a:rPr>
              <a:t>   clean_data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77440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B9C7D6"/>
                </a:solidFill>
                <a:latin typeface="Segoe UI"/>
              </a:rPr>
              <a:t>Os dados já limpos, antes de virarem feature. A camada de conferência.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52928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49808" y="3035808"/>
            <a:ext cx="45720" cy="182880"/>
          </a:xfrm>
          <a:prstGeom prst="roundRect">
            <a:avLst>
              <a:gd name="adj" fmla="val 5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96112" y="2999232"/>
            <a:ext cx="6217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34C7B5"/>
                </a:solidFill>
                <a:latin typeface="Segoe UI"/>
              </a:rPr>
              <a:t>feature_store</a:t>
            </a:r>
            <a:r>
              <a:rPr sz="1050" b="0">
                <a:solidFill>
                  <a:srgbClr val="FFFFFF"/>
                </a:solidFill>
                <a:latin typeface="Segoe UI"/>
              </a:rPr>
              <a:t>   abt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273552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B9C7D6"/>
                </a:solidFill>
                <a:latin typeface="Segoe UI"/>
              </a:rPr>
              <a:t>Uma linha por cliente, 836 features. É daqui que a API lê a cada decisão.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49039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49808" y="3931920"/>
            <a:ext cx="45720" cy="18288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112" y="3895344"/>
            <a:ext cx="6217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4A90D9"/>
                </a:solidFill>
                <a:latin typeface="Segoe UI"/>
              </a:rPr>
              <a:t>serving</a:t>
            </a:r>
            <a:r>
              <a:rPr sz="1050" b="0">
                <a:solidFill>
                  <a:srgbClr val="FFFFFF"/>
                </a:solidFill>
                <a:latin typeface="Segoe UI"/>
              </a:rPr>
              <a:t>   predictions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169663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B9C7D6"/>
                </a:solidFill>
                <a:latin typeface="Segoe UI"/>
              </a:rPr>
              <a:t>Toda decisão tomada fica registrada: entrada, PD, faixa, versão do modelo, latência.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45152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49808" y="4828032"/>
            <a:ext cx="45720" cy="182880"/>
          </a:xfrm>
          <a:prstGeom prst="roundRect">
            <a:avLst>
              <a:gd name="adj" fmla="val 50000"/>
            </a:avLst>
          </a:prstGeom>
          <a:solidFill>
            <a:srgbClr val="3F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96112" y="4791456"/>
            <a:ext cx="6217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3FCF8E"/>
                </a:solidFill>
                <a:latin typeface="Segoe UI"/>
              </a:rPr>
              <a:t>mlops</a:t>
            </a:r>
            <a:r>
              <a:rPr sz="1050" b="0">
                <a:solidFill>
                  <a:srgbClr val="FFFFFF"/>
                </a:solidFill>
                <a:latin typeface="Segoe UI"/>
              </a:rPr>
              <a:t>   model_registry · monitoring_runs · drift_metrics · performance_metrics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06577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B9C7D6"/>
                </a:solidFill>
                <a:latin typeface="Segoe UI"/>
              </a:rPr>
              <a:t>Qual modelo está no ar e como ele vem se comportando ao longo do tempo.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6096" y="1956816"/>
            <a:ext cx="3995928" cy="786384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26096" y="2145548"/>
            <a:ext cx="399592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34C7B5"/>
                </a:solidFill>
                <a:latin typeface="Segoe UI"/>
              </a:rPr>
              <a:t>356.251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657612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8294A8"/>
                </a:solidFill>
                <a:latin typeface="Segoe UI"/>
              </a:rPr>
              <a:t>clientes na feature store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6096" y="2852928"/>
            <a:ext cx="3995928" cy="786384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26096" y="3041660"/>
            <a:ext cx="399592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34C7B5"/>
                </a:solidFill>
                <a:latin typeface="Segoe UI"/>
              </a:rPr>
              <a:t>4,0 GB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553724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8294A8"/>
                </a:solidFill>
                <a:latin typeface="Segoe UI"/>
              </a:rPr>
              <a:t>de features gravadas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26096" y="3749039"/>
            <a:ext cx="3995928" cy="786384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626096" y="3937772"/>
            <a:ext cx="399592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34C7B5"/>
                </a:solidFill>
                <a:latin typeface="Segoe UI"/>
              </a:rPr>
              <a:t>1,9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449836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8294A8"/>
                </a:solidFill>
                <a:latin typeface="Segoe UI"/>
              </a:rPr>
              <a:t>para ler um cliente inteiro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26096" y="4645152"/>
            <a:ext cx="3995928" cy="786384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827264" y="4809744"/>
            <a:ext cx="359359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200">
                <a:solidFill>
                  <a:srgbClr val="F0B429"/>
                </a:solidFill>
                <a:latin typeface="Segoe UI"/>
              </a:rPr>
              <a:t>DECISÃO DE PROJETO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27264" y="5029200"/>
            <a:ext cx="3593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As 836 features moram num JSONB</a:t>
            </a:r>
            <a:r>
              <a:rPr sz="1000" b="0">
                <a:solidFill>
                  <a:srgbClr val="B9C7D6"/>
                </a:solidFill>
                <a:latin typeface="Segoe UI"/>
              </a:rPr>
              <a:t> — e as variáveis de negócio são colunas geradas a partir dele.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596128"/>
            <a:ext cx="11055096" cy="621792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749808" y="5760720"/>
            <a:ext cx="45720" cy="292608"/>
          </a:xfrm>
          <a:prstGeom prst="roundRect">
            <a:avLst>
              <a:gd name="adj" fmla="val 5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14400" y="5742432"/>
            <a:ext cx="1050645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Nada é recalculado na hora da decisão. </a:t>
            </a:r>
            <a:r>
              <a:rPr sz="1100" b="0">
                <a:solidFill>
                  <a:srgbClr val="B9C7D6"/>
                </a:solidFill>
                <a:latin typeface="Segoe UI"/>
              </a:rPr>
              <a:t>A API faz uma leitura por chave primária — por isso responde em milissegundos mesmo com 4 GB de histórico atrás dela.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75488"/>
            <a:ext cx="118872" cy="256032"/>
          </a:xfrm>
          <a:prstGeom prst="roundRect">
            <a:avLst>
              <a:gd name="adj" fmla="val 4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220">
                <a:solidFill>
                  <a:srgbClr val="4FD1C5"/>
                </a:solidFill>
                <a:latin typeface="Segoe UI"/>
              </a:rPr>
              <a:t>A PERGUNTA QUE FALTAVA RESPONDER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105509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De onde vêm as outras variáveis?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0689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B9C7D6"/>
                </a:solidFill>
                <a:latin typeface="Segoe UI"/>
              </a:rPr>
              <a:t>O formulário da proposta preenche só uma parte. O resto o cliente já deixou registrado — e é justamente o resto que muda a decisão.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Home Credit Default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3224" y="65105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08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2048256"/>
            <a:ext cx="47183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As 836 features, por origem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2359152"/>
            <a:ext cx="1467415" cy="292608"/>
          </a:xfrm>
          <a:prstGeom prst="roundRect">
            <a:avLst>
              <a:gd name="adj" fmla="val 12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235511" y="2359152"/>
            <a:ext cx="1405332" cy="292608"/>
          </a:xfrm>
          <a:prstGeom prst="roundRect">
            <a:avLst>
              <a:gd name="adj" fmla="val 12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640843" y="2359152"/>
            <a:ext cx="801434" cy="292608"/>
          </a:xfrm>
          <a:prstGeom prst="roundRect">
            <a:avLst>
              <a:gd name="adj" fmla="val 12000"/>
            </a:avLst>
          </a:prstGeom>
          <a:solidFill>
            <a:srgbClr val="3F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442277" y="2359152"/>
            <a:ext cx="761927" cy="292608"/>
          </a:xfrm>
          <a:prstGeom prst="roundRect">
            <a:avLst>
              <a:gd name="adj" fmla="val 12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204204" y="2359152"/>
            <a:ext cx="163673" cy="292608"/>
          </a:xfrm>
          <a:prstGeom prst="roundRect">
            <a:avLst>
              <a:gd name="adj" fmla="val 12000"/>
            </a:avLst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367878" y="2359152"/>
            <a:ext cx="118521" cy="292608"/>
          </a:xfrm>
          <a:prstGeom prst="roundRect">
            <a:avLst>
              <a:gd name="adj" fmla="val 12000"/>
            </a:avLst>
          </a:prstGeom>
          <a:solidFill>
            <a:srgbClr val="829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68096" y="2834640"/>
            <a:ext cx="91440" cy="91440"/>
          </a:xfrm>
          <a:prstGeom prst="roundRect">
            <a:avLst>
              <a:gd name="adj" fmla="val 3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2807208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B9C7D6"/>
                </a:solidFill>
                <a:latin typeface="Segoe UI"/>
              </a:rPr>
              <a:t>aplicações anteriores</a:t>
            </a:r>
            <a:r>
              <a:rPr sz="900" b="1">
                <a:solidFill>
                  <a:srgbClr val="FFFFFF"/>
                </a:solidFill>
                <a:latin typeface="Segoe UI"/>
              </a:rPr>
              <a:t>  260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63824" y="2834640"/>
            <a:ext cx="91440" cy="91440"/>
          </a:xfrm>
          <a:prstGeom prst="roundRect">
            <a:avLst>
              <a:gd name="adj" fmla="val 3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346704" y="2807208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B9C7D6"/>
                </a:solidFill>
                <a:latin typeface="Segoe UI"/>
              </a:rPr>
              <a:t>cadastro e proposta</a:t>
            </a:r>
            <a:r>
              <a:rPr sz="900" b="1">
                <a:solidFill>
                  <a:srgbClr val="FFFFFF"/>
                </a:solidFill>
                <a:latin typeface="Segoe UI"/>
              </a:rPr>
              <a:t>  249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3108960"/>
            <a:ext cx="91440" cy="91440"/>
          </a:xfrm>
          <a:prstGeom prst="roundRect">
            <a:avLst>
              <a:gd name="adj" fmla="val 30000"/>
            </a:avLst>
          </a:prstGeom>
          <a:solidFill>
            <a:srgbClr val="3F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50976" y="3081528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B9C7D6"/>
                </a:solidFill>
                <a:latin typeface="Segoe UI"/>
              </a:rPr>
              <a:t>cartão de crédito</a:t>
            </a:r>
            <a:r>
              <a:rPr sz="900" b="1">
                <a:solidFill>
                  <a:srgbClr val="FFFFFF"/>
                </a:solidFill>
                <a:latin typeface="Segoe UI"/>
              </a:rPr>
              <a:t>  142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63824" y="3108960"/>
            <a:ext cx="91440" cy="91440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346704" y="3081528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B9C7D6"/>
                </a:solidFill>
                <a:latin typeface="Segoe UI"/>
              </a:rPr>
              <a:t>bureau de crédito</a:t>
            </a:r>
            <a:r>
              <a:rPr sz="900" b="1">
                <a:solidFill>
                  <a:srgbClr val="FFFFFF"/>
                </a:solidFill>
                <a:latin typeface="Segoe UI"/>
              </a:rPr>
              <a:t>  135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" y="3383280"/>
            <a:ext cx="91440" cy="91440"/>
          </a:xfrm>
          <a:prstGeom prst="roundRect">
            <a:avLst>
              <a:gd name="adj" fmla="val 30000"/>
            </a:avLst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50976" y="3355848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B9C7D6"/>
                </a:solidFill>
                <a:latin typeface="Segoe UI"/>
              </a:rPr>
              <a:t>parcelas pagas</a:t>
            </a:r>
            <a:r>
              <a:rPr sz="900" b="1">
                <a:solidFill>
                  <a:srgbClr val="FFFFFF"/>
                </a:solidFill>
                <a:latin typeface="Segoe UI"/>
              </a:rPr>
              <a:t>  29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63824" y="3383280"/>
            <a:ext cx="91440" cy="91440"/>
          </a:xfrm>
          <a:prstGeom prst="roundRect">
            <a:avLst>
              <a:gd name="adj" fmla="val 30000"/>
            </a:avLst>
          </a:prstGeom>
          <a:solidFill>
            <a:srgbClr val="829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346704" y="3355848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B9C7D6"/>
                </a:solidFill>
                <a:latin typeface="Segoe UI"/>
              </a:rPr>
              <a:t>POS / consignado</a:t>
            </a:r>
            <a:r>
              <a:rPr sz="900" b="1">
                <a:solidFill>
                  <a:srgbClr val="FFFFFF"/>
                </a:solidFill>
                <a:latin typeface="Segoe UI"/>
              </a:rPr>
              <a:t>  21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0176" y="1874519"/>
            <a:ext cx="5641848" cy="841248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3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181344" y="2002536"/>
            <a:ext cx="3474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294A8"/>
                </a:solidFill>
                <a:latin typeface="Segoe UI"/>
              </a:rPr>
              <a:t>3 variáveis digitadas na tela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2221992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3FCF8E"/>
                </a:solidFill>
                <a:latin typeface="Segoe UI"/>
              </a:rPr>
              <a:t>PD 4,6%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4" y="2295144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B9C7D6"/>
                </a:solidFill>
                <a:latin typeface="Segoe UI"/>
              </a:rPr>
              <a:t>o que faltava virou valor médio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49256" y="2167128"/>
            <a:ext cx="1371600" cy="310896"/>
          </a:xfrm>
          <a:prstGeom prst="roundRect">
            <a:avLst>
              <a:gd name="adj" fmla="val 45000"/>
            </a:avLst>
          </a:prstGeom>
          <a:solidFill>
            <a:srgbClr val="112136"/>
          </a:solidFill>
          <a:ln w="9525">
            <a:solidFill>
              <a:srgbClr val="3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49256" y="2231136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3FCF8E"/>
                </a:solidFill>
                <a:latin typeface="Segoe UI"/>
              </a:rPr>
              <a:t>APROVAR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0176" y="2862072"/>
            <a:ext cx="5641848" cy="841248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F2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181344" y="2990088"/>
            <a:ext cx="3474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294A8"/>
                </a:solidFill>
                <a:latin typeface="Segoe UI"/>
              </a:rPr>
              <a:t>658 variáveis buscadas no banco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3209544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26D6D"/>
                </a:solidFill>
                <a:latin typeface="Segoe UI"/>
              </a:rPr>
              <a:t>PD 34,6%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0144" y="3282696"/>
            <a:ext cx="1792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B9C7D6"/>
                </a:solidFill>
                <a:latin typeface="Segoe UI"/>
              </a:rPr>
              <a:t>o histórico completo inverteu a decisão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49256" y="3154680"/>
            <a:ext cx="1371600" cy="310896"/>
          </a:xfrm>
          <a:prstGeom prst="roundRect">
            <a:avLst>
              <a:gd name="adj" fmla="val 45000"/>
            </a:avLst>
          </a:prstGeom>
          <a:solidFill>
            <a:srgbClr val="112136"/>
          </a:solidFill>
          <a:ln w="9525">
            <a:solidFill>
              <a:srgbClr val="F2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049256" y="3218688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F26D6D"/>
                </a:solidFill>
                <a:latin typeface="Segoe UI"/>
              </a:rPr>
              <a:t>RECUSAR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0176" y="3822191"/>
            <a:ext cx="564184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9C7D6"/>
                </a:solidFill>
                <a:latin typeface="Segoe UI"/>
              </a:rPr>
              <a:t>Desfecho real do cliente 100002 na base: </a:t>
            </a:r>
            <a:r>
              <a:rPr sz="1000" b="1">
                <a:solidFill>
                  <a:srgbClr val="F26D6D"/>
                </a:solidFill>
                <a:latin typeface="Segoe UI"/>
              </a:rPr>
              <a:t>inadimplente.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3931920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spc="200">
                <a:solidFill>
                  <a:srgbClr val="F0B429"/>
                </a:solidFill>
                <a:latin typeface="Segoe UI"/>
              </a:rPr>
              <a:t>E SE ELE PEDISSE MENOS?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4133087"/>
            <a:ext cx="8229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B9C7D6"/>
                </a:solidFill>
                <a:latin typeface="Segoe UI"/>
              </a:rPr>
              <a:t>Variando só o valor do crédito. As outras 655 features continuam vindo da feature store a cada uma das 22 chamadas.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8992" y="5453149"/>
            <a:ext cx="10543032" cy="13716"/>
          </a:xfrm>
          <a:prstGeom prst="roundRect">
            <a:avLst>
              <a:gd name="adj" fmla="val 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66928" y="5370853"/>
            <a:ext cx="47548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750" b="0">
                <a:solidFill>
                  <a:srgbClr val="F0B429"/>
                </a:solidFill>
                <a:latin typeface="Segoe UI"/>
              </a:rPr>
              <a:t>corte 30%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70432" y="4922464"/>
            <a:ext cx="822960" cy="1112575"/>
          </a:xfrm>
          <a:prstGeom prst="roundRect">
            <a:avLst>
              <a:gd name="adj" fmla="val 10000"/>
            </a:avLst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97280" y="4748728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F26D6D"/>
                </a:solidFill>
                <a:latin typeface="Segoe UI"/>
              </a:rPr>
              <a:t>34,6%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6089904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8294A8"/>
                </a:solidFill>
                <a:latin typeface="Segoe UI"/>
              </a:rPr>
              <a:t>406.597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40280" y="5221556"/>
            <a:ext cx="822960" cy="813483"/>
          </a:xfrm>
          <a:prstGeom prst="roundRect">
            <a:avLst>
              <a:gd name="adj" fmla="val 10000"/>
            </a:avLst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2167128" y="5047820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F26D6D"/>
                </a:solidFill>
                <a:latin typeface="Segoe UI"/>
              </a:rPr>
              <a:t>32,0%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67128" y="6089904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8294A8"/>
                </a:solidFill>
                <a:latin typeface="Segoe UI"/>
              </a:rPr>
              <a:t>350.000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10128" y="5323969"/>
            <a:ext cx="822960" cy="711070"/>
          </a:xfrm>
          <a:prstGeom prst="roundRect">
            <a:avLst>
              <a:gd name="adj" fmla="val 10000"/>
            </a:avLst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236976" y="5150233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F26D6D"/>
                </a:solidFill>
                <a:latin typeface="Segoe UI"/>
              </a:rPr>
              <a:t>31,1%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36976" y="6089904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8294A8"/>
                </a:solidFill>
                <a:latin typeface="Segoe UI"/>
              </a:rPr>
              <a:t>300.000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79976" y="5379830"/>
            <a:ext cx="822960" cy="655209"/>
          </a:xfrm>
          <a:prstGeom prst="roundRect">
            <a:avLst>
              <a:gd name="adj" fmla="val 10000"/>
            </a:avLst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4306824" y="5206094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F26D6D"/>
                </a:solidFill>
                <a:latin typeface="Segoe UI"/>
              </a:rPr>
              <a:t>30,6%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06824" y="6089904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8294A8"/>
                </a:solidFill>
                <a:latin typeface="Segoe UI"/>
              </a:rPr>
              <a:t>250.000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49824" y="5431037"/>
            <a:ext cx="822960" cy="604002"/>
          </a:xfrm>
          <a:prstGeom prst="roundRect">
            <a:avLst>
              <a:gd name="adj" fmla="val 10000"/>
            </a:avLst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376672" y="5257301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F26D6D"/>
                </a:solidFill>
                <a:latin typeface="Segoe UI"/>
              </a:rPr>
              <a:t>30,2%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76672" y="6089904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8294A8"/>
                </a:solidFill>
                <a:latin typeface="Segoe UI"/>
              </a:rPr>
              <a:t>220.000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19672" y="5505519"/>
            <a:ext cx="822960" cy="529520"/>
          </a:xfrm>
          <a:prstGeom prst="roundRect">
            <a:avLst>
              <a:gd name="adj" fmla="val 1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446520" y="5331783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F0B429"/>
                </a:solidFill>
                <a:latin typeface="Segoe UI"/>
              </a:rPr>
              <a:t>29,5%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6520" y="6089904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1">
                <a:solidFill>
                  <a:srgbClr val="FFFFFF"/>
                </a:solidFill>
                <a:latin typeface="Segoe UI"/>
              </a:rPr>
              <a:t>211.680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92240" y="5478087"/>
            <a:ext cx="877824" cy="556952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34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6446520" y="6236208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750" b="0">
                <a:solidFill>
                  <a:srgbClr val="34C7B5"/>
                </a:solidFill>
                <a:latin typeface="Segoe UI"/>
              </a:rPr>
              <a:t>cabe na política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89520" y="5588147"/>
            <a:ext cx="822960" cy="446892"/>
          </a:xfrm>
          <a:prstGeom prst="roundRect">
            <a:avLst>
              <a:gd name="adj" fmla="val 1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516368" y="5414411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F0B429"/>
                </a:solidFill>
                <a:latin typeface="Segoe UI"/>
              </a:rPr>
              <a:t>28,8%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16368" y="6089904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8294A8"/>
                </a:solidFill>
                <a:latin typeface="Segoe UI"/>
              </a:rPr>
              <a:t>200.000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659368" y="5824395"/>
            <a:ext cx="822960" cy="210644"/>
          </a:xfrm>
          <a:prstGeom prst="roundRect">
            <a:avLst>
              <a:gd name="adj" fmla="val 1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8586216" y="5650659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F0B429"/>
                </a:solidFill>
                <a:latin typeface="Segoe UI"/>
              </a:rPr>
              <a:t>26,8%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86216" y="6089904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8294A8"/>
                </a:solidFill>
                <a:latin typeface="Segoe UI"/>
              </a:rPr>
              <a:t>175.000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729216" y="5890731"/>
            <a:ext cx="822960" cy="144308"/>
          </a:xfrm>
          <a:prstGeom prst="roundRect">
            <a:avLst>
              <a:gd name="adj" fmla="val 1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9656064" y="5716995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F0B429"/>
                </a:solidFill>
                <a:latin typeface="Segoe UI"/>
              </a:rPr>
              <a:t>26,2%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56064" y="6089904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8294A8"/>
                </a:solidFill>
                <a:latin typeface="Segoe UI"/>
              </a:rPr>
              <a:t>150.000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799064" y="5851162"/>
            <a:ext cx="822960" cy="183877"/>
          </a:xfrm>
          <a:prstGeom prst="roundRect">
            <a:avLst>
              <a:gd name="adj" fmla="val 1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10725912" y="5677426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F0B429"/>
                </a:solidFill>
                <a:latin typeface="Segoe UI"/>
              </a:rPr>
              <a:t>26,6%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725912" y="6089904"/>
            <a:ext cx="96926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8294A8"/>
                </a:solidFill>
                <a:latin typeface="Segoe UI"/>
              </a:rPr>
              <a:t>100.000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595360" y="4480560"/>
            <a:ext cx="3026664" cy="804672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34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8759952" y="4626864"/>
            <a:ext cx="2697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>
                <a:solidFill>
                  <a:srgbClr val="FFFFFF"/>
                </a:solidFill>
                <a:latin typeface="Segoe UI"/>
              </a:rPr>
              <a:t>A recusa não era sobre a pessoa — era sobre o valor.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900" b="0">
                <a:solidFill>
                  <a:srgbClr val="B9C7D6"/>
                </a:solidFill>
                <a:latin typeface="Segoe UI"/>
              </a:rPr>
              <a:t>Busca binária sobre o modelo: 12 iterações, 1,4 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75488"/>
            <a:ext cx="118872" cy="256032"/>
          </a:xfrm>
          <a:prstGeom prst="roundRect">
            <a:avLst>
              <a:gd name="adj" fmla="val 4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220">
                <a:solidFill>
                  <a:srgbClr val="4FD1C5"/>
                </a:solidFill>
                <a:latin typeface="Segoe UI"/>
              </a:rPr>
              <a:t>ORQUESTRAÇÃO · APACHE 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105509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Onde entra o Airflow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0689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B9C7D6"/>
                </a:solidFill>
                <a:latin typeface="Segoe UI"/>
              </a:rPr>
              <a:t>Não é detalhe de infraestrutura. É o que impede a feature store de envelhecer e o modelo de decidir sobre o cliente de seis meses atrás.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Home Credit Default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3224" y="65105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09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93392"/>
            <a:ext cx="5381244" cy="146304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68096" y="2231136"/>
            <a:ext cx="45720" cy="182880"/>
          </a:xfrm>
          <a:prstGeom prst="roundRect">
            <a:avLst>
              <a:gd name="adj" fmla="val 5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7353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credit_risk_ingestion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41164" y="2194560"/>
            <a:ext cx="1005840" cy="237744"/>
          </a:xfrm>
          <a:prstGeom prst="roundRect">
            <a:avLst>
              <a:gd name="adj" fmla="val 45000"/>
            </a:avLst>
          </a:prstGeom>
          <a:solidFill>
            <a:srgbClr val="112136"/>
          </a:solidFill>
          <a:ln w="9525">
            <a:solidFill>
              <a:srgbClr val="34C7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741164" y="2221992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34C7B5"/>
                </a:solidFill>
                <a:latin typeface="Segoe UI"/>
              </a:rPr>
              <a:t>@daily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42032"/>
            <a:ext cx="497890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4C7B5"/>
                </a:solidFill>
                <a:latin typeface="Segoe UI"/>
              </a:rPr>
              <a:t>sanitize → build_abt → load_feature_store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816352"/>
            <a:ext cx="497890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B9C7D6"/>
                </a:solidFill>
                <a:latin typeface="Segoe UI"/>
              </a:rPr>
              <a:t>Mantém a feature store viva. Carga por UPSERT: atualiza quem mudou, não apaga ninguém.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0780" y="1993392"/>
            <a:ext cx="5381244" cy="146304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41948" y="2231136"/>
            <a:ext cx="45720" cy="18288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8252" y="2194560"/>
            <a:ext cx="37353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credit_risk_training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5016" y="2194560"/>
            <a:ext cx="1005840" cy="237744"/>
          </a:xfrm>
          <a:prstGeom prst="roundRect">
            <a:avLst>
              <a:gd name="adj" fmla="val 45000"/>
            </a:avLst>
          </a:prstGeom>
          <a:solidFill>
            <a:srgbClr val="112136"/>
          </a:solidFill>
          <a:ln w="9525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415016" y="2221992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4A90D9"/>
                </a:solidFill>
                <a:latin typeface="Segoe UI"/>
              </a:rPr>
              <a:t>manual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1948" y="2542032"/>
            <a:ext cx="497890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A90D9"/>
                </a:solidFill>
                <a:latin typeface="Segoe UI"/>
              </a:rPr>
              <a:t>train → register_model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1948" y="2816352"/>
            <a:ext cx="497890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B9C7D6"/>
                </a:solidFill>
                <a:latin typeface="Segoe UI"/>
              </a:rPr>
              <a:t>Retreina e publica a nova versão no registry. Disparo manual, porque trocar modelo é decisão de negócio.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02736"/>
            <a:ext cx="5381244" cy="146304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768096" y="3840480"/>
            <a:ext cx="45720" cy="182880"/>
          </a:xfrm>
          <a:prstGeom prst="roundRect">
            <a:avLst>
              <a:gd name="adj" fmla="val 50000"/>
            </a:avLst>
          </a:prstGeom>
          <a:solidFill>
            <a:srgbClr val="3F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3803904"/>
            <a:ext cx="37353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credit_risk_batch_scoring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41164" y="3803904"/>
            <a:ext cx="1005840" cy="237744"/>
          </a:xfrm>
          <a:prstGeom prst="roundRect">
            <a:avLst>
              <a:gd name="adj" fmla="val 45000"/>
            </a:avLst>
          </a:prstGeom>
          <a:solidFill>
            <a:srgbClr val="112136"/>
          </a:solidFill>
          <a:ln w="9525">
            <a:solidFill>
              <a:srgbClr val="3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741164" y="3831336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3FCF8E"/>
                </a:solidFill>
                <a:latin typeface="Segoe UI"/>
              </a:rPr>
              <a:t>@daily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151376"/>
            <a:ext cx="497890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FCF8E"/>
                </a:solidFill>
                <a:latin typeface="Segoe UI"/>
              </a:rPr>
              <a:t>pontua a carteira inteira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425696"/>
            <a:ext cx="497890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B9C7D6"/>
                </a:solidFill>
                <a:latin typeface="Segoe UI"/>
              </a:rPr>
              <a:t>2.000 clientes por segundo. Grava tudo em serving.predictions, com a versão do modelo junto.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0780" y="3602736"/>
            <a:ext cx="5381244" cy="1463040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6441948" y="3840480"/>
            <a:ext cx="45720" cy="182880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8252" y="3803904"/>
            <a:ext cx="37353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credit_risk_monitoring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15016" y="3803904"/>
            <a:ext cx="1005840" cy="237744"/>
          </a:xfrm>
          <a:prstGeom prst="roundRect">
            <a:avLst>
              <a:gd name="adj" fmla="val 45000"/>
            </a:avLst>
          </a:prstGeom>
          <a:solidFill>
            <a:srgbClr val="112136"/>
          </a:solidFill>
          <a:ln w="952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415016" y="3831336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F0B429"/>
                </a:solidFill>
                <a:latin typeface="Segoe UI"/>
              </a:rPr>
              <a:t>@daily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1948" y="4151376"/>
            <a:ext cx="497890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F0B429"/>
                </a:solidFill>
                <a:latin typeface="Segoe UI"/>
              </a:rPr>
              <a:t>data drift ∥ prediction drift ∥ performance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1948" y="4425696"/>
            <a:ext cx="497890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B9C7D6"/>
                </a:solidFill>
                <a:latin typeface="Segoe UI"/>
              </a:rPr>
              <a:t>Três tarefas em paralelo. É a DAG que avisa quando alguma coisa saiu do lugar.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321808"/>
            <a:ext cx="11055096" cy="694944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749808" y="5486400"/>
            <a:ext cx="45720" cy="365760"/>
          </a:xfrm>
          <a:prstGeom prst="roundRect">
            <a:avLst>
              <a:gd name="adj" fmla="val 5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14400" y="5468112"/>
            <a:ext cx="1050645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Metastore em PostgreSQL · LocalExecutor · as DAGs sobem no mesmo docker compose up do resto.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100" b="0">
                <a:solidFill>
                  <a:srgbClr val="B9C7D6"/>
                </a:solidFill>
                <a:latin typeface="Segoe UI"/>
              </a:rPr>
              <a:t>A DAG de ingestão tem uma trava: ela recusa publicar uma ABT construída sobre amostra, porque isso apagaria o histórico de quem já está no banco.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75488"/>
            <a:ext cx="118872" cy="256032"/>
          </a:xfrm>
          <a:prstGeom prst="roundRect">
            <a:avLst>
              <a:gd name="adj" fmla="val 4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220">
                <a:solidFill>
                  <a:srgbClr val="4FD1C5"/>
                </a:solidFill>
                <a:latin typeface="Segoe UI"/>
              </a:rPr>
              <a:t>MONITORAMENTO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105509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Saber que o modelo piorou antes do prejuízo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0689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B9C7D6"/>
                </a:solidFill>
                <a:latin typeface="Segoe UI"/>
              </a:rPr>
              <a:t>Três camadas, todo dia. A entrada mudou há tempos; a performance só confirmou agora — é essa defasagem que elas existem para cobrir.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Home Credit Default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3224" y="65105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10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3489960" cy="1874519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68096" y="2093976"/>
            <a:ext cx="45720" cy="182880"/>
          </a:xfrm>
          <a:prstGeom prst="roundRect">
            <a:avLst>
              <a:gd name="adj" fmla="val 5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2941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1 · Drift de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14016"/>
            <a:ext cx="3087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34C7B5"/>
                </a:solidFill>
                <a:latin typeface="Segoe UI"/>
              </a:rPr>
              <a:t>1 de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798064"/>
            <a:ext cx="30876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294A8"/>
                </a:solidFill>
                <a:latin typeface="Segoe UI"/>
              </a:rPr>
              <a:t>features em nível severo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3017520"/>
            <a:ext cx="1536192" cy="256032"/>
          </a:xfrm>
          <a:prstGeom prst="roundRect">
            <a:avLst>
              <a:gd name="adj" fmla="val 45000"/>
            </a:avLst>
          </a:prstGeom>
          <a:solidFill>
            <a:srgbClr val="112136"/>
          </a:solidFill>
          <a:ln w="952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8096" y="3054096"/>
            <a:ext cx="15361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F0B429"/>
                </a:solidFill>
                <a:latin typeface="Segoe UI"/>
              </a:rPr>
              <a:t>re-treino: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364992"/>
            <a:ext cx="3087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B9C7D6"/>
                </a:solidFill>
                <a:latin typeface="Segoe UI"/>
              </a:rPr>
              <a:t>A entrada mudou: PAYMENT_RATE com PSI 1,48. Limiares: 0,10 moderado · 0,25 severo.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9496" y="1874519"/>
            <a:ext cx="3489960" cy="1874519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550664" y="2093976"/>
            <a:ext cx="45720" cy="182880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96968" y="2075688"/>
            <a:ext cx="2941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2 · Drift de predição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0664" y="2414016"/>
            <a:ext cx="3087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4A90D9"/>
                </a:solidFill>
                <a:latin typeface="Segoe UI"/>
              </a:rPr>
              <a:t>PSI 0,043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0664" y="2798064"/>
            <a:ext cx="30876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294A8"/>
                </a:solidFill>
                <a:latin typeface="Segoe UI"/>
              </a:rPr>
              <a:t>PD média 0,080 → 0,103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50664" y="3017520"/>
            <a:ext cx="1536192" cy="256032"/>
          </a:xfrm>
          <a:prstGeom prst="roundRect">
            <a:avLst>
              <a:gd name="adj" fmla="val 45000"/>
            </a:avLst>
          </a:prstGeom>
          <a:solidFill>
            <a:srgbClr val="112136"/>
          </a:solidFill>
          <a:ln w="9525">
            <a:solidFill>
              <a:srgbClr val="3F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50664" y="3054096"/>
            <a:ext cx="15361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3FCF8E"/>
                </a:solidFill>
                <a:latin typeface="Segoe UI"/>
              </a:rPr>
              <a:t>dentro do normal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0664" y="3364992"/>
            <a:ext cx="3087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B9C7D6"/>
                </a:solidFill>
                <a:latin typeface="Segoe UI"/>
              </a:rPr>
              <a:t>A PD subiu, mas a forma da distribuição quase não mudou. O modelo ainda decide parecido.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2064" y="1874519"/>
            <a:ext cx="3489960" cy="1874519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333232" y="2093976"/>
            <a:ext cx="45720" cy="182880"/>
          </a:xfrm>
          <a:prstGeom prst="roundRect">
            <a:avLst>
              <a:gd name="adj" fmla="val 50000"/>
            </a:avLst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79536" y="2075688"/>
            <a:ext cx="2941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3 · Performance por safra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3232" y="2414016"/>
            <a:ext cx="3087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26D6D"/>
                </a:solidFill>
                <a:latin typeface="Segoe UI"/>
              </a:rPr>
              <a:t>0,7126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3232" y="2798064"/>
            <a:ext cx="30876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294A8"/>
                </a:solidFill>
                <a:latin typeface="Segoe UI"/>
              </a:rPr>
              <a:t>piso de alerta: 0,7514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33232" y="3017520"/>
            <a:ext cx="1536192" cy="256032"/>
          </a:xfrm>
          <a:prstGeom prst="roundRect">
            <a:avLst>
              <a:gd name="adj" fmla="val 45000"/>
            </a:avLst>
          </a:prstGeom>
          <a:solidFill>
            <a:srgbClr val="112136"/>
          </a:solidFill>
          <a:ln w="9525">
            <a:solidFill>
              <a:srgbClr val="F2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333232" y="3054096"/>
            <a:ext cx="15361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F26D6D"/>
                </a:solidFill>
                <a:latin typeface="Segoe UI"/>
              </a:rPr>
              <a:t>degradação: SIM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3232" y="3364992"/>
            <a:ext cx="3087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B9C7D6"/>
                </a:solidFill>
                <a:latin typeface="Segoe UI"/>
              </a:rPr>
              <a:t>A safra 2026-08 caiu abaixo do limite. Série: 0,776 · 0,763 · 0,819 · 0,713.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877056"/>
            <a:ext cx="5381244" cy="2084831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86384" y="4059936"/>
            <a:ext cx="49423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200">
                <a:solidFill>
                  <a:srgbClr val="F0B429"/>
                </a:solidFill>
                <a:latin typeface="Segoe UI"/>
              </a:rPr>
              <a:t>O ALARME SABE DISPARAR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4297680"/>
            <a:ext cx="49423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B9C7D6"/>
                </a:solidFill>
                <a:latin typeface="Segoe UI"/>
              </a:rPr>
              <a:t>Injetando um cenário de recessão — renda cai, scores externos pioram, atrasos sobem — as mesmas 30 features são reavaliadas: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4718304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B9C7D6"/>
                </a:solidFill>
                <a:latin typeface="Segoe UI"/>
              </a:rPr>
              <a:t>PAYMENT_RATE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4718304"/>
            <a:ext cx="4023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00" b="1">
                <a:solidFill>
                  <a:srgbClr val="F26D6D"/>
                </a:solidFill>
                <a:latin typeface="Segoe UI"/>
              </a:rPr>
              <a:t>0,86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24912" y="4718304"/>
            <a:ext cx="43891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26D6D"/>
                </a:solidFill>
                <a:latin typeface="Segoe UI"/>
              </a:rPr>
              <a:t>SEVERO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73552" y="4718304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B9C7D6"/>
                </a:solidFill>
                <a:latin typeface="Segoe UI"/>
              </a:rPr>
              <a:t>AMT_INCOME_TOTAL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4718304"/>
            <a:ext cx="4023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00" b="1">
                <a:solidFill>
                  <a:srgbClr val="F26D6D"/>
                </a:solidFill>
                <a:latin typeface="Segoe UI"/>
              </a:rPr>
              <a:t>0,71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4718304"/>
            <a:ext cx="43891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26D6D"/>
                </a:solidFill>
                <a:latin typeface="Segoe UI"/>
              </a:rPr>
              <a:t>SEVERO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4937760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B9C7D6"/>
                </a:solidFill>
                <a:latin typeface="Segoe UI"/>
              </a:rPr>
              <a:t>EXT_SOURCE_2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4937760"/>
            <a:ext cx="4023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00" b="1">
                <a:solidFill>
                  <a:srgbClr val="F26D6D"/>
                </a:solidFill>
                <a:latin typeface="Segoe UI"/>
              </a:rPr>
              <a:t>0,66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24912" y="4937760"/>
            <a:ext cx="43891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26D6D"/>
                </a:solidFill>
                <a:latin typeface="Segoe UI"/>
              </a:rPr>
              <a:t>SEVERO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73552" y="4937760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B9C7D6"/>
                </a:solidFill>
                <a:latin typeface="Segoe UI"/>
              </a:rPr>
              <a:t>EXT_SOURCE_1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3168" y="4937760"/>
            <a:ext cx="4023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00" b="1">
                <a:solidFill>
                  <a:srgbClr val="F26D6D"/>
                </a:solidFill>
                <a:latin typeface="Segoe UI"/>
              </a:rPr>
              <a:t>0,37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4937760"/>
            <a:ext cx="43891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26D6D"/>
                </a:solidFill>
                <a:latin typeface="Segoe UI"/>
              </a:rPr>
              <a:t>SEVERO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" y="5157216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B9C7D6"/>
                </a:solidFill>
                <a:latin typeface="Segoe UI"/>
              </a:rPr>
              <a:t>EXT_SOURCE_3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5157216"/>
            <a:ext cx="4023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00" b="1">
                <a:solidFill>
                  <a:srgbClr val="F26D6D"/>
                </a:solidFill>
                <a:latin typeface="Segoe UI"/>
              </a:rPr>
              <a:t>0,33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24912" y="5157216"/>
            <a:ext cx="43891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26D6D"/>
                </a:solidFill>
                <a:latin typeface="Segoe UI"/>
              </a:rPr>
              <a:t>SEVERO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73552" y="5157216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B9C7D6"/>
                </a:solidFill>
                <a:latin typeface="Segoe UI"/>
              </a:rPr>
              <a:t>ANNUITY_INCOME_PERC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73168" y="5157216"/>
            <a:ext cx="4023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800" b="1">
                <a:solidFill>
                  <a:srgbClr val="F26D6D"/>
                </a:solidFill>
                <a:latin typeface="Segoe UI"/>
              </a:rPr>
              <a:t>0,32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5157216"/>
            <a:ext cx="43891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26D6D"/>
                </a:solidFill>
                <a:latin typeface="Segoe UI"/>
              </a:rPr>
              <a:t>SEVERO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" y="5449824"/>
            <a:ext cx="49423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6 severos · 1 moderado · re-treino recomendado: SIM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800" b="0">
                <a:solidFill>
                  <a:srgbClr val="8294A8"/>
                </a:solidFill>
                <a:latin typeface="Segoe UI"/>
              </a:rPr>
              <a:t>Reproduz sempre igual:  MLOps.monitoring --data-drift --simular-choque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40780" y="3877056"/>
            <a:ext cx="5381244" cy="2084831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F2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460236" y="4059936"/>
            <a:ext cx="49423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200">
                <a:solidFill>
                  <a:srgbClr val="F26D6D"/>
                </a:solidFill>
                <a:latin typeface="Segoe UI"/>
              </a:rPr>
              <a:t>O ACHADO QUE NÃO FOI SIMULAÇÃO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60236" y="4315968"/>
            <a:ext cx="49423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Segoe UI"/>
              </a:rPr>
              <a:t>PAYMENT_RATE, PSI 1,48 entre o treino e a população nova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60236" y="4626864"/>
            <a:ext cx="494233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B9C7D6"/>
                </a:solidFill>
                <a:latin typeface="Segoe UI"/>
              </a:rPr>
              <a:t>Fomos investigar em vez de aceitar o número. No treino, 12% dos clientes tinham crédito de prazo muito longo — mediana de 34 anos e R$ 1,08 milhão. Na população nova esse segmento não existe mais: zero clientes, e o prazo mediano caiu de 20 para 16 anos.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60236" y="5541264"/>
            <a:ext cx="49423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>
                <a:solidFill>
                  <a:srgbClr val="F26D6D"/>
                </a:solidFill>
                <a:latin typeface="Segoe UI"/>
              </a:rPr>
              <a:t>Um produto inteiro saiu da carteira — e o monitoramento apontou sozinho, sem ninguém procurar.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75488"/>
            <a:ext cx="118872" cy="256032"/>
          </a:xfrm>
          <a:prstGeom prst="roundRect">
            <a:avLst>
              <a:gd name="adj" fmla="val 40000"/>
            </a:avLst>
          </a:prstGeom>
          <a:solidFill>
            <a:srgbClr val="34C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04672" y="53035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spc="220">
                <a:solidFill>
                  <a:srgbClr val="4FD1C5"/>
                </a:solidFill>
                <a:latin typeface="Segoe UI"/>
              </a:rPr>
              <a:t>ITEM (IV) · DA PREVISÃO À 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105509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O que fazer com a decisão depois de tomada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0689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B9C7D6"/>
                </a:solidFill>
                <a:latin typeface="Segoe UI"/>
              </a:rPr>
              <a:t>Entre a PD e o efeito no negócio ainda tem uma pessoa abrindo outro sistema. É esse intervalo que a automação fecharia.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Home Credit Default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93224" y="65105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4A5A6E"/>
                </a:solidFill>
                <a:latin typeface="Segoe UI"/>
              </a:rPr>
              <a:t>11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50424" y="914400"/>
            <a:ext cx="1371600" cy="292608"/>
          </a:xfrm>
          <a:prstGeom prst="roundRect">
            <a:avLst>
              <a:gd name="adj" fmla="val 45000"/>
            </a:avLst>
          </a:prstGeom>
          <a:solidFill>
            <a:srgbClr val="112136"/>
          </a:solidFill>
          <a:ln w="9525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250424" y="969264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F0B429"/>
                </a:solidFill>
                <a:latin typeface="Segoe UI"/>
              </a:rPr>
              <a:t>PROPOSTA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20240"/>
            <a:ext cx="3489960" cy="1389888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2121408"/>
            <a:ext cx="30876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294A8"/>
                </a:solidFill>
                <a:latin typeface="Segoe UI"/>
              </a:rPr>
              <a:t>PD &lt; 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340864"/>
            <a:ext cx="3087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3FCF8E"/>
                </a:solidFill>
                <a:latin typeface="Segoe UI"/>
              </a:rPr>
              <a:t>APROVAR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688336"/>
            <a:ext cx="3087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B9C7D6"/>
                </a:solidFill>
                <a:latin typeface="Segoe UI"/>
              </a:rPr>
              <a:t>Liberar no sistema de originação · avisar o cliente · registrar a decisão com a versão do modelo.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9496" y="1920240"/>
            <a:ext cx="3489960" cy="1389888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50664" y="2121408"/>
            <a:ext cx="30876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294A8"/>
                </a:solidFill>
                <a:latin typeface="Segoe UI"/>
              </a:rPr>
              <a:t>8% – 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0664" y="2340864"/>
            <a:ext cx="3087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0B429"/>
                </a:solidFill>
                <a:latin typeface="Segoe UI"/>
              </a:rPr>
              <a:t>ANÁLISE MANUAL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0664" y="2688336"/>
            <a:ext cx="3087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B9C7D6"/>
                </a:solidFill>
                <a:latin typeface="Segoe UI"/>
              </a:rPr>
              <a:t>Abrir ticket para a mesa já com a explicação SHAP anexada · priorizar a fila por valor e proximidade do corte.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2064" y="1920240"/>
            <a:ext cx="3489960" cy="1389888"/>
          </a:xfrm>
          <a:prstGeom prst="roundRect">
            <a:avLst>
              <a:gd name="adj" fmla="val 6000"/>
            </a:avLst>
          </a:prstGeom>
          <a:solidFill>
            <a:srgbClr val="16273D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33232" y="2121408"/>
            <a:ext cx="30876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294A8"/>
                </a:solidFill>
                <a:latin typeface="Segoe UI"/>
              </a:rPr>
              <a:t>&gt; 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3232" y="2340864"/>
            <a:ext cx="30876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26D6D"/>
                </a:solidFill>
                <a:latin typeface="Segoe UI"/>
              </a:rPr>
              <a:t>RECUSAR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3232" y="2688336"/>
            <a:ext cx="3087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B9C7D6"/>
                </a:solidFill>
                <a:latin typeface="Segoe UI"/>
              </a:rPr>
              <a:t>Antes de comunicar, procurar uma oferta alternativa viável — quase sempre a recusa é sobre o valor pedido, não sobre a pessoa.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511296"/>
            <a:ext cx="11055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spc="220">
                <a:solidFill>
                  <a:srgbClr val="4FD1C5"/>
                </a:solidFill>
                <a:latin typeface="Segoe UI"/>
              </a:rPr>
              <a:t>TRÊS AGENTES DE IA PROPOSTOS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785615"/>
            <a:ext cx="3489960" cy="1536192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768096" y="4005072"/>
            <a:ext cx="310896" cy="310896"/>
          </a:xfrm>
          <a:prstGeom prst="ellipse">
            <a:avLst/>
          </a:prstGeom>
          <a:solidFill>
            <a:srgbClr val="16273D"/>
          </a:solidFill>
          <a:ln w="9525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8096" y="4087368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4A90D9"/>
                </a:solidFill>
                <a:latin typeface="Segoe UI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041648"/>
            <a:ext cx="2667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Explicação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425696"/>
            <a:ext cx="30876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FD1C5"/>
                </a:solidFill>
                <a:latin typeface="Segoe UI"/>
              </a:rPr>
              <a:t>“por que este cliente foi recusado?”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681728"/>
            <a:ext cx="3087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9C7D6"/>
                </a:solidFill>
                <a:latin typeface="Segoe UI"/>
              </a:rPr>
              <a:t>Recebe as contribuições SHAP que a API já calcula e escreve a justificativa em linguagem de negócio.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9496" y="3785615"/>
            <a:ext cx="3489960" cy="1536192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4550664" y="4005072"/>
            <a:ext cx="310896" cy="310896"/>
          </a:xfrm>
          <a:prstGeom prst="ellipse">
            <a:avLst/>
          </a:prstGeom>
          <a:solidFill>
            <a:srgbClr val="16273D"/>
          </a:solidFill>
          <a:ln w="9525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50664" y="4087368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4A90D9"/>
                </a:solidFill>
                <a:latin typeface="Segoe UI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71288" y="4041648"/>
            <a:ext cx="2667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Retenção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0664" y="4425696"/>
            <a:ext cx="30876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FD1C5"/>
                </a:solidFill>
                <a:latin typeface="Segoe UI"/>
              </a:rPr>
              <a:t>“existe crédito que ele conseguiria pagar?”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0664" y="4681728"/>
            <a:ext cx="3087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9C7D6"/>
                </a:solidFill>
                <a:latin typeface="Segoe UI"/>
              </a:rPr>
              <a:t>Interpreta a busca por oferta alternativa e redige a contraproposta. A conta dura é do modelo; o agente comunica.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2064" y="3785615"/>
            <a:ext cx="3489960" cy="1536192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8333232" y="4005072"/>
            <a:ext cx="310896" cy="310896"/>
          </a:xfrm>
          <a:prstGeom prst="ellipse">
            <a:avLst/>
          </a:prstGeom>
          <a:solidFill>
            <a:srgbClr val="16273D"/>
          </a:solidFill>
          <a:ln w="9525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333232" y="4087368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4A90D9"/>
                </a:solidFill>
                <a:latin typeface="Segoe UI"/>
              </a:rPr>
              <a:t>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53856" y="4041648"/>
            <a:ext cx="2667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Monitoramento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3232" y="4425696"/>
            <a:ext cx="30876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4FD1C5"/>
                </a:solidFill>
                <a:latin typeface="Segoe UI"/>
              </a:rPr>
              <a:t>“o que aconteceu e o que eu faço?”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3232" y="4681728"/>
            <a:ext cx="3087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9C7D6"/>
                </a:solidFill>
                <a:latin typeface="Segoe UI"/>
              </a:rPr>
              <a:t>Transforma a tabela de PSI e AUC no parágrafo que alguém de plantão precisa entender às 3 da manhã.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486400"/>
            <a:ext cx="11055096" cy="676656"/>
          </a:xfrm>
          <a:prstGeom prst="roundRect">
            <a:avLst>
              <a:gd name="adj" fmla="val 6000"/>
            </a:avLst>
          </a:prstGeom>
          <a:solidFill>
            <a:srgbClr val="112136"/>
          </a:solidFill>
          <a:ln w="9525">
            <a:solidFill>
              <a:srgbClr val="213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749808" y="5650992"/>
            <a:ext cx="45720" cy="347472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14400" y="5632704"/>
            <a:ext cx="1050645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Já está de pé: </a:t>
            </a:r>
            <a:r>
              <a:rPr sz="1100" b="0">
                <a:solidFill>
                  <a:srgbClr val="B9C7D6"/>
                </a:solidFill>
                <a:latin typeface="Segoe UI"/>
              </a:rPr>
              <a:t>SHAP exposto por API · simulação que recalcula as 9 features derivadas · log auditável de toda decisão · registry do modelo · Airflow.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100" b="0">
                <a:solidFill>
                  <a:srgbClr val="8294A8"/>
                </a:solidFill>
                <a:latin typeface="Segoe UI"/>
              </a:rPr>
              <a:t>Falta o motor de ações — deixado como proposta de propósito: sem um sistema de originação real para receber a oferta, seria uma tabela que ninguém consome.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